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Default Extension="gif" ContentType="image/gif"/>
  <Default Extension="svg" ContentType="image/svg+xml"/>
  <Default Extension="bmp" ContentType="image/bmp"/>
  <Default Extension="emf" ContentType="image/x-emf"/>
  <Default Extension="wmf" ContentType="image/x-wmf"/>
  <Default Extension="pdf" ContentType="application/pdf"/>
  <Default Extension="jpg" ContentType="application/octet-stream"/>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6.xml" ContentType="application/vnd.openxmlformats-officedocument.presentationml.notesSlide+xml"/>
  <Override PartName="/ppt/slides/slide2.xml" ContentType="application/vnd.openxmlformats-officedocument.presentationml.slide+xml"/>
  <Override PartName="/ppt/notesSlides/notesSlide7.xml" ContentType="application/vnd.openxmlformats-officedocument.presentationml.notesSlide+xml"/>
  <Override PartName="/ppt/slides/slide3.xml" ContentType="application/vnd.openxmlformats-officedocument.presentationml.slide+xml"/>
  <Override PartName="/ppt/notesSlides/notesSlide8.xml" ContentType="application/vnd.openxmlformats-officedocument.presentationml.notesSlide+xml"/>
  <Override PartName="/ppt/slides/slide4.xml" ContentType="application/vnd.openxmlformats-officedocument.presentationml.slide+xml"/>
  <Override PartName="/ppt/notesSlides/notesSlide9.xml" ContentType="application/vnd.openxmlformats-officedocument.presentationml.notesSlide+xml"/>
  <Override PartName="/ppt/slides/slide5.xml" ContentType="application/vnd.openxmlformats-officedocument.presentationml.slide+xml"/>
  <Override PartName="/ppt/notesSlides/notesSlide10.xml" ContentType="application/vnd.openxmlformats-officedocument.presentationml.notesSlide+xml"/>
  <Override PartName="/ppt/slides/slide6.xml" ContentType="application/vnd.openxmlformats-officedocument.presentationml.slide+xml"/>
  <Override PartName="/ppt/notesSlides/notesSlide11.xml" ContentType="application/vnd.openxmlformats-officedocument.presentationml.notesSlide+xml"/>
  <Override PartName="/ppt/slides/slide7.xml" ContentType="application/vnd.openxmlformats-officedocument.presentationml.slide+xml"/>
  <Override PartName="/ppt/notesSlides/notesSlide12.xml" ContentType="application/vnd.openxmlformats-officedocument.presentationml.notesSlide+xml"/>
  <Override PartName="/ppt/slides/slide8.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notesSlides/notesSlide14.xml" ContentType="application/vnd.openxmlformats-officedocument.presentationml.notesSlide+xml"/>
  <Override PartName="/ppt/slides/slide10.xml" ContentType="application/vnd.openxmlformats-officedocument.presentationml.slide+xml"/>
  <Override PartName="/ppt/notesSlides/notesSlide15.xml" ContentType="application/vnd.openxmlformats-officedocument.presentationml.notesSlide+xml"/>
  <Override PartName="/ppt/slides/slide11.xml" ContentType="application/vnd.openxmlformats-officedocument.presentationml.slide+xml"/>
  <Override PartName="/ppt/notesSlides/notesSlide16.xml" ContentType="application/vnd.openxmlformats-officedocument.presentationml.notesSlide+xml"/>
  <Override PartName="/ppt/slides/slide12.xml" ContentType="application/vnd.openxmlformats-officedocument.presentationml.slide+xml"/>
  <Override PartName="/ppt/notesSlides/notesSlide17.xml" ContentType="application/vnd.openxmlformats-officedocument.presentationml.notesSlide+xml"/>
  <Override PartName="/ppt/slides/slide13.xml" ContentType="application/vnd.openxmlformats-officedocument.presentationml.slide+xml"/>
  <Override PartName="/ppt/notesSlides/notesSlide18.xml" ContentType="application/vnd.openxmlformats-officedocument.presentationml.notesSlide+xml"/>
  <Override PartName="/ppt/slides/slide14.xml" ContentType="application/vnd.openxmlformats-officedocument.presentationml.slide+xml"/>
  <Override PartName="/ppt/notesSlides/notesSlide19.xml" ContentType="application/vnd.openxmlformats-officedocument.presentationml.notesSlide+xml"/>
  <Override PartName="/ppt/slides/slide15.xml" ContentType="application/vnd.openxmlformats-officedocument.presentationml.slide+xml"/>
  <Override PartName="/ppt/notesSlides/notesSlide20.xml" ContentType="application/vnd.openxmlformats-officedocument.presentationml.notesSlide+xml"/>
  <Override PartName="/ppt/slides/slide16.xml" ContentType="application/vnd.openxmlformats-officedocument.presentationml.slide+xml"/>
  <Override PartName="/ppt/notesSlides/notesSlide21.xml" ContentType="application/vnd.openxmlformats-officedocument.presentationml.notesSlide+xml"/>
  <Override PartName="/ppt/slides/slide17.xml" ContentType="application/vnd.openxmlformats-officedocument.presentationml.slide+xml"/>
  <Override PartName="/ppt/notesSlides/notesSlide22.xml" ContentType="application/vnd.openxmlformats-officedocument.presentationml.notesSlide+xml"/>
  <Override PartName="/ppt/slides/slide18.xml" ContentType="application/vnd.openxmlformats-officedocument.presentationml.slide+xml"/>
  <Override PartName="/ppt/notesSlides/notesSlide23.xml" ContentType="application/vnd.openxmlformats-officedocument.presentationml.notesSlide+xml"/>
  <Override PartName="/ppt/slides/slide19.xml" ContentType="application/vnd.openxmlformats-officedocument.presentationml.slide+xml"/>
  <Override PartName="/ppt/notesSlides/notesSlide24.xml" ContentType="application/vnd.openxmlformats-officedocument.presentationml.notesSlide+xml"/>
  <Override PartName="/ppt/slides/slide20.xml" ContentType="application/vnd.openxmlformats-officedocument.presentationml.slide+xml"/>
  <Override PartName="/ppt/notesSlides/notesSlide25.xml" ContentType="application/vnd.openxmlformats-officedocument.presentationml.notesSlide+xml"/>
  <Override PartName="/ppt/slides/slide21.xml" ContentType="application/vnd.openxmlformats-officedocument.presentationml.slide+xml"/>
  <Override PartName="/ppt/notesSlides/notesSlide26.xml" ContentType="application/vnd.openxmlformats-officedocument.presentationml.notesSlide+xml"/>
  <Override PartName="/ppt/slides/slide22.xml" ContentType="application/vnd.openxmlformats-officedocument.presentationml.slide+xml"/>
  <Override PartName="/ppt/notesSlides/notesSlide27.xml" ContentType="application/vnd.openxmlformats-officedocument.presentationml.notesSlide+xml"/>
  <Override PartName="/ppt/slides/slide23.xml" ContentType="application/vnd.openxmlformats-officedocument.presentationml.slide+xml"/>
  <Override PartName="/ppt/notesSlides/notesSlide28.xml" ContentType="application/vnd.openxmlformats-officedocument.presentationml.notesSlide+xml"/>
  <Override PartName="/ppt/slides/slide24.xml" ContentType="application/vnd.openxmlformats-officedocument.presentationml.slide+xml"/>
  <Override PartName="/ppt/notesSlides/notesSlide29.xml" ContentType="application/vnd.openxmlformats-officedocument.presentationml.notesSlide+xml"/>
  <Override PartName="/ppt/slides/slide25.xml" ContentType="application/vnd.openxmlformats-officedocument.presentationml.slide+xml"/>
  <Override PartName="/ppt/notesSlides/notesSlide30.xml" ContentType="application/vnd.openxmlformats-officedocument.presentationml.notesSlide+xml"/>
  <Override PartName="/ppt/slides/slide26.xml" ContentType="application/vnd.openxmlformats-officedocument.presentationml.slide+xml"/>
  <Override PartName="/ppt/notesSlides/notesSlide31.xml" ContentType="application/vnd.openxmlformats-officedocument.presentationml.notesSlide+xml"/>
  <Override PartName="/ppt/slides/slide27.xml" ContentType="application/vnd.openxmlformats-officedocument.presentationml.slide+xml"/>
  <Override PartName="/ppt/notesSlides/notesSlide32.xml" ContentType="application/vnd.openxmlformats-officedocument.presentationml.notesSlide+xml"/>
</Types>
</file>

<file path=_rels/.rels><?xml version="1.0" encoding="UTF-8" standalone="yes"?>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4"/>
  </p:sldMasterIdLst>
  <p:notesMasterIdLst>
    <p:notesMasterId r:id="rId34"/>
  </p:notesMasterIdLst>
  <p:handoutMasterIdLst>
    <p:handoutMasterId r:id="rId35"/>
  </p:handoutMasterIdLst>
  <p:sldIdLst>
    <p:sldId id="256" r:id="rId41"/>
    <p:sldId id="257" r:id="rId42"/>
    <p:sldId id="258" r:id="rId43"/>
    <p:sldId id="259" r:id="rId44"/>
    <p:sldId id="260" r:id="rId45"/>
    <p:sldId id="261" r:id="rId46"/>
    <p:sldId id="262" r:id="rId47"/>
    <p:sldId id="263" r:id="rId48"/>
    <p:sldId id="264" r:id="rId49"/>
    <p:sldId id="265" r:id="rId50"/>
    <p:sldId id="266" r:id="rId51"/>
    <p:sldId id="267" r:id="rId52"/>
    <p:sldId id="268" r:id="rId53"/>
    <p:sldId id="269" r:id="rId54"/>
    <p:sldId id="270" r:id="rId55"/>
    <p:sldId id="271" r:id="rId56"/>
    <p:sldId id="272" r:id="rId57"/>
    <p:sldId id="273" r:id="rId58"/>
    <p:sldId id="274" r:id="rId59"/>
    <p:sldId id="275" r:id="rId60"/>
    <p:sldId id="276" r:id="rId61"/>
    <p:sldId id="277" r:id="rId62"/>
    <p:sldId id="278" r:id="rId63"/>
    <p:sldId id="279" r:id="rId64"/>
    <p:sldId id="280" r:id="rId65"/>
    <p:sldId id="281" r:id="rId66"/>
    <p:sldId id="282"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u Navarro" initials="PN" lastIdx="12" clrIdx="0">
    <p:extLst>
      <p:ext uri="{19B8F6BF-5375-455C-9EA6-DF929625EA0E}">
        <p15:presenceInfo xmlns:p15="http://schemas.microsoft.com/office/powerpoint/2012/main" userId="S::pnavarro@ed.ac.uk::0df85265-d116-45d2-9e77-9730941c009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9EB"/>
    <a:srgbClr val="FFF7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52" autoAdjust="0"/>
    <p:restoredTop sz="94660"/>
  </p:normalViewPr>
  <p:slideViewPr>
    <p:cSldViewPr snapToGrid="0">
      <p:cViewPr varScale="1">
        <p:scale>
          <a:sx n="127" d="100"/>
          <a:sy n="127" d="100"/>
        </p:scale>
        <p:origin x="840" y="192"/>
      </p:cViewPr>
      <p:guideLst>
        <p:guide orient="horz" pos="2160"/>
        <p:guide pos="3840"/>
      </p:guideLst>
    </p:cSldViewPr>
  </p:slideViewPr>
  <p:notesTextViewPr>
    <p:cViewPr>
      <p:scale>
        <a:sx n="1" d="1"/>
        <a:sy n="1" d="1"/>
      </p:scale>
      <p:origin x="0" y="0"/>
    </p:cViewPr>
  </p:notesTextViewPr>
  <p:notesViewPr>
    <p:cSldViewPr snapToGrid="0">
      <p:cViewPr varScale="1">
        <p:scale>
          <a:sx n="86" d="100"/>
          <a:sy n="86" d="100"/>
        </p:scale>
        <p:origin x="3864" y="84"/>
      </p:cViewPr>
      <p:guideLst/>
    </p:cSldViewPr>
  </p:notesViewPr>
  <p:gridSpacing cx="72008" cy="72008"/>
</p:viewPr>
</file>

<file path=ppt/_rels/presentation.xml.rels><?xml version="1.0" encoding="UTF-8" standalone="yes"?>

<Relationships  xmlns="http://schemas.openxmlformats.org/package/2006/relationships">
<Relationship Id="rId39" Type="http://schemas.openxmlformats.org/officeDocument/2006/relationships/theme" Target="theme/theme1.xml"/>
<Relationship Id="rId34" Type="http://schemas.openxmlformats.org/officeDocument/2006/relationships/notesMaster" Target="notesMasters/notesMaster1.xml"/>
<Relationship Id="rId38" Type="http://schemas.openxmlformats.org/officeDocument/2006/relationships/viewProps" Target="viewProps.xml"/>
<Relationship Id="rId2" Type="http://schemas.openxmlformats.org/officeDocument/2006/relationships/customXml" Target="../customXml/item2.xml"/>
<Relationship Id="rId1" Type="http://schemas.openxmlformats.org/officeDocument/2006/relationships/customXml" Target="../customXml/item1.xml"/>
<Relationship Id="rId37" Type="http://schemas.openxmlformats.org/officeDocument/2006/relationships/presProps" Target="presProps.xml"/>
<Relationship Id="rId40" Type="http://schemas.openxmlformats.org/officeDocument/2006/relationships/tableStyles" Target="tableStyles.xml"/>
<Relationship Id="rId36" Type="http://schemas.openxmlformats.org/officeDocument/2006/relationships/commentAuthors" Target="commentAuthors.xml"/>
<Relationship Id="rId4" Type="http://schemas.openxmlformats.org/officeDocument/2006/relationships/slideMaster" Target="slideMasters/slideMaster1.xml"/>
<Relationship Id="rId35" Type="http://schemas.openxmlformats.org/officeDocument/2006/relationships/handoutMaster" Target="handoutMasters/handoutMaster1.xml"/>
<Relationship Id="rId3" Type="http://schemas.openxmlformats.org/officeDocument/2006/relationships/customXml" Target="../customXml/item3.xml"/>
<Relationship Id="rId41" Type="http://schemas.openxmlformats.org/officeDocument/2006/relationships/slide" Target="slides/slide1.xml"/>
<Relationship Id="rId42" Type="http://schemas.openxmlformats.org/officeDocument/2006/relationships/slide" Target="slides/slide2.xml"/>
<Relationship Id="rId43" Type="http://schemas.openxmlformats.org/officeDocument/2006/relationships/slide" Target="slides/slide3.xml"/>
<Relationship Id="rId44" Type="http://schemas.openxmlformats.org/officeDocument/2006/relationships/slide" Target="slides/slide4.xml"/>
<Relationship Id="rId45" Type="http://schemas.openxmlformats.org/officeDocument/2006/relationships/slide" Target="slides/slide5.xml"/>
<Relationship Id="rId46" Type="http://schemas.openxmlformats.org/officeDocument/2006/relationships/slide" Target="slides/slide6.xml"/>
<Relationship Id="rId47" Type="http://schemas.openxmlformats.org/officeDocument/2006/relationships/slide" Target="slides/slide7.xml"/>
<Relationship Id="rId48" Type="http://schemas.openxmlformats.org/officeDocument/2006/relationships/slide" Target="slides/slide8.xml"/>
<Relationship Id="rId49" Type="http://schemas.openxmlformats.org/officeDocument/2006/relationships/slide" Target="slides/slide9.xml"/>
<Relationship Id="rId50" Type="http://schemas.openxmlformats.org/officeDocument/2006/relationships/slide" Target="slides/slide10.xml"/>
<Relationship Id="rId51" Type="http://schemas.openxmlformats.org/officeDocument/2006/relationships/slide" Target="slides/slide11.xml"/>
<Relationship Id="rId52" Type="http://schemas.openxmlformats.org/officeDocument/2006/relationships/slide" Target="slides/slide12.xml"/>
<Relationship Id="rId53" Type="http://schemas.openxmlformats.org/officeDocument/2006/relationships/slide" Target="slides/slide13.xml"/>
<Relationship Id="rId54" Type="http://schemas.openxmlformats.org/officeDocument/2006/relationships/slide" Target="slides/slide14.xml"/>
<Relationship Id="rId55" Type="http://schemas.openxmlformats.org/officeDocument/2006/relationships/slide" Target="slides/slide15.xml"/>
<Relationship Id="rId56" Type="http://schemas.openxmlformats.org/officeDocument/2006/relationships/slide" Target="slides/slide16.xml"/>
<Relationship Id="rId57" Type="http://schemas.openxmlformats.org/officeDocument/2006/relationships/slide" Target="slides/slide17.xml"/>
<Relationship Id="rId58" Type="http://schemas.openxmlformats.org/officeDocument/2006/relationships/slide" Target="slides/slide18.xml"/>
<Relationship Id="rId59" Type="http://schemas.openxmlformats.org/officeDocument/2006/relationships/slide" Target="slides/slide19.xml"/>
<Relationship Id="rId60" Type="http://schemas.openxmlformats.org/officeDocument/2006/relationships/slide" Target="slides/slide20.xml"/>
<Relationship Id="rId61" Type="http://schemas.openxmlformats.org/officeDocument/2006/relationships/slide" Target="slides/slide21.xml"/>
<Relationship Id="rId62" Type="http://schemas.openxmlformats.org/officeDocument/2006/relationships/slide" Target="slides/slide22.xml"/>
<Relationship Id="rId63" Type="http://schemas.openxmlformats.org/officeDocument/2006/relationships/slide" Target="slides/slide23.xml"/>
<Relationship Id="rId64" Type="http://schemas.openxmlformats.org/officeDocument/2006/relationships/slide" Target="slides/slide24.xml"/>
<Relationship Id="rId65" Type="http://schemas.openxmlformats.org/officeDocument/2006/relationships/slide" Target="slides/slide25.xml"/>
<Relationship Id="rId66" Type="http://schemas.openxmlformats.org/officeDocument/2006/relationships/slide" Target="slides/slide26.xml"/>
<Relationship Id="rId67" Type="http://schemas.openxmlformats.org/officeDocument/2006/relationships/slide" Target="slides/slide27.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E5FFB01-782C-49C6-89B5-E8A6B2A3454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975ADD54-A325-4FC7-ABE0-5A92E22DB05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1DAFF3C-85F6-4197-8C76-110C470C9DAE}" type="datetimeFigureOut">
              <a:rPr lang="en-GB" smtClean="0"/>
              <a:t>05/06/2026</a:t>
            </a:fld>
            <a:endParaRPr lang="en-GB"/>
          </a:p>
        </p:txBody>
      </p:sp>
      <p:sp>
        <p:nvSpPr>
          <p:cNvPr id="4" name="Footer Placeholder 3">
            <a:extLst>
              <a:ext uri="{FF2B5EF4-FFF2-40B4-BE49-F238E27FC236}">
                <a16:creationId xmlns:a16="http://schemas.microsoft.com/office/drawing/2014/main" id="{6BCBC6A4-B419-4598-A470-B097369AC91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A705E4D6-E80A-426E-A273-258D4521337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CDA93-2FF0-46F3-B763-C4928515F839}" type="slidenum">
              <a:rPr lang="en-GB" smtClean="0"/>
              <a:t>‹#›</a:t>
            </a:fld>
            <a:endParaRPr lang="en-GB"/>
          </a:p>
        </p:txBody>
      </p:sp>
    </p:spTree>
    <p:extLst>
      <p:ext uri="{BB962C8B-B14F-4D97-AF65-F5344CB8AC3E}">
        <p14:creationId xmlns:p14="http://schemas.microsoft.com/office/powerpoint/2010/main" val="8763105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AE31BF-A932-1D49-A0D1-9F7D5741C663}" type="datetimeFigureOut">
              <a:rPr lang="en-GB" smtClean="0"/>
              <a:t>05/06/2026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1BAAED-C7FB-C049-BFF5-359B2B265EE7}" type="slidenum">
              <a:rPr lang="en-GB" smtClean="0"/>
              <a:t>‹#›</a:t>
            </a:fld>
            <a:endParaRPr lang="en-GB"/>
          </a:p>
        </p:txBody>
      </p:sp>
    </p:spTree>
    <p:extLst>
      <p:ext uri="{BB962C8B-B14F-4D97-AF65-F5344CB8AC3E}">
        <p14:creationId xmlns:p14="http://schemas.microsoft.com/office/powerpoint/2010/main" val="213723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
<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
<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
<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
<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1BAAED-C7FB-C049-BFF5-359B2B265EE7}" type="slidenum">
              <a:rPr lang="en-GB" smtClean="0"/>
              <a:t>2</a:t>
            </a:fld>
            <a:endParaRPr lang="en-GB"/>
          </a:p>
        </p:txBody>
      </p:sp>
    </p:spTree>
    <p:extLst>
      <p:ext uri="{BB962C8B-B14F-4D97-AF65-F5344CB8AC3E}">
        <p14:creationId xmlns:p14="http://schemas.microsoft.com/office/powerpoint/2010/main" val="18303750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1BAAED-C7FB-C049-BFF5-359B2B265EE7}" type="slidenum">
              <a:rPr lang="en-GB" smtClean="0"/>
              <a:t>18</a:t>
            </a:fld>
            <a:endParaRPr lang="en-GB"/>
          </a:p>
        </p:txBody>
      </p:sp>
    </p:spTree>
    <p:extLst>
      <p:ext uri="{BB962C8B-B14F-4D97-AF65-F5344CB8AC3E}">
        <p14:creationId xmlns:p14="http://schemas.microsoft.com/office/powerpoint/2010/main" val="27119590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081DD-399C-CE68-775C-55BD47A4C3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E21A56-687D-BCCC-A1AB-B0AA344E17F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50DEF6D-2C9D-10C6-13A9-FB42D56C7A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B703F6-AD67-B9D6-DB5B-5017AC68F13F}"/>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703011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1BAAED-C7FB-C049-BFF5-359B2B265EE7}" type="slidenum">
              <a:rPr lang="en-GB" smtClean="0"/>
              <a:t>29</a:t>
            </a:fld>
            <a:endParaRPr lang="en-GB"/>
          </a:p>
        </p:txBody>
      </p:sp>
    </p:spTree>
    <p:extLst>
      <p:ext uri="{BB962C8B-B14F-4D97-AF65-F5344CB8AC3E}">
        <p14:creationId xmlns:p14="http://schemas.microsoft.com/office/powerpoint/2010/main" val="1296793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Good morning/afternoon. Today I will present our genome-wide association analysis of agronomic and physiological traits in foxtail millet.</a:t>
            </a:r>
          </a:p>
          <a:p>
            <a:r>
              <a:rPr/>
              <a:t>The key feature of the study is that LN2023, LN2024 and HN2024 were analysed separately. This allows us to identify both environment-specific and repeatable genetic signals.</a:t>
            </a:r>
          </a:p>
          <a:p>
            <a:r>
              <a:rPr/>
              <a:t>I will first outline the design and quality control, then summarize the GWAS results, highlight recurrent loci and conclude with candidate genes and priorities for validation.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We treated LN2023, LN2024 and HN2024 as three separate environments. Eight traits were analysed in each, giving 24 phenotype datasets.</a:t>
            </a:r>
          </a:p>
          <a:p>
            <a:r>
              <a:rPr/>
              <a:t>Genotype BLUEs were estimated in ASReml-R with genotype fitted as a fixed effect and block fitted as a random effect.</a:t>
            </a:r>
          </a:p>
          <a:p>
            <a:r>
              <a:rPr/>
              <a:t>Each phenotype was then analysed with MLM, FarmCPU and BLINK, producing 72 GWAS analyses. Deterministic seeds were used for reproducibility.</a:t>
            </a:r>
          </a:p>
          <a:p>
            <a:r>
              <a:rPr/>
              <a:t>After quality control, 177 accessions and 848,687 biallelic SNPs remained. Only chromosomes 1 to 9 were retained; unplaced scaffolds were removed. Both sample and SNP missingness thresholds were 10 percent, and the marker-level MAF threshold was 0.05.</a:t>
            </a:r>
          </a:p>
          <a:p>
            <a:r>
              <a:rPr/>
              <a:t>A limitation to keep in mind is that separate LN2024 and HN2024 GWAS identify nitrogen-environment-specific signals, but do not formally test genotype-by-nitrogen interaction.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table distinguishes three related but different result counts.</a:t>
            </a:r>
          </a:p>
          <a:p>
            <a:r>
              <a:rPr/>
              <a:t>First, 181 is the number of significant association records. This count includes repeated detection of the same marker in different traits, environments or models.</a:t>
            </a:r>
          </a:p>
          <a:p>
            <a:r>
              <a:rPr/>
              <a:t>After counting every significant marker only once, there are 160 unique significant SNPs.</a:t>
            </a:r>
          </a:p>
          <a:p>
            <a:r>
              <a:rPr/>
              <a:t>We then recalculated MAF within the accessions available for each trait. Ninety-five unique significant SNPs had trait-specific MAF of at least 0.05; these form the prioritized evidence set.</a:t>
            </a:r>
          </a:p>
          <a:p>
            <a:r>
              <a:rPr/>
              <a:t>The Bonferroni threshold was 0.05 divided by 848,687 markers, or 5.891 times 10 to the minus 8. For follow-up, I emphasize the 95 prioritized SNPs, especially the seven recurrent loci.</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table shows the complete LN2023 results. Sample size varies among traits because BLUEs were available for different numbers of accessions.</a:t>
            </a:r>
          </a:p>
          <a:p>
            <a:r>
              <a:rPr/>
              <a:t>Days to flowering produced the strongest LN2023 evidence, with 14 significant records and 12 MAF-supported unique SNPs. Panicle length had 11 supported SNPs, while pedicel length had seven.</a:t>
            </a:r>
          </a:p>
          <a:p>
            <a:r>
              <a:rPr/>
              <a:t>Plant height and thousand-seed weight produced smaller numbers of supported associations. Plant density, seed protein and seed fat had no Bonferroni-significant associations.</a:t>
            </a:r>
          </a:p>
          <a:p>
            <a:r>
              <a:rPr/>
              <a:t>These zero results should be interpreted as no detectable signal at this sample size and threshold, rather than evidence that the traits lack a genetic basis.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Under LN2024, days to flowering, tiller number, height, harvest date and protein all produced significant associations.</a:t>
            </a:r>
          </a:p>
          <a:p>
            <a:r>
              <a:rPr/>
              <a:t>Tiller number generated 28 significant records, but after requiring trait-specific MAF of at least 0.05 these represented eight supported unique SNPs. Flowering retained 11 supported unique SNPs.</a:t>
            </a:r>
          </a:p>
          <a:p>
            <a:r>
              <a:rPr/>
              <a:t>Height retained five, harvest retained seven and protein retained two supported unique SNPs. Fluorescence, NDVI and plant density had no Bonferroni-significant associations.</a:t>
            </a:r>
          </a:p>
          <a:p>
            <a:r>
              <a:rPr/>
              <a:t>The distinction between all records and MAF-supported results is important because some model detections were driven by alleles that were rare within the relevant phenotype subset.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Under HN2024, tiller number again produced the largest number of raw association records, with 32, but only four unique SNPs passed the trait-specific MAF filter.</a:t>
            </a:r>
          </a:p>
          <a:p>
            <a:r>
              <a:rPr/>
              <a:t>Days to flowering and height each retained eight supported unique SNPs. Protein retained eight, and harvest retained four.</a:t>
            </a:r>
          </a:p>
          <a:p>
            <a:r>
              <a:rPr/>
              <a:t>Fluorescence, NDVI and plant density showed no Bonferroni-significant associations.</a:t>
            </a:r>
          </a:p>
          <a:p>
            <a:r>
              <a:rPr/>
              <a:t>Comparing this slide with LN2024 suggests both treatment-specific responses and shared loci. Shared signals are particularly useful because they are less likely to reflect a single environmental realization.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Broad-sense heritability was estimated separately for each trait within LN2023, LN2024 and HN2024 using plot-level ASReml models.</a:t>
            </a:r>
          </a:p>
          <a:p>
            <a:r>
              <a:rPr/>
              <a:t>Genotype and block were fitted as random effects. Entry-mean heritability was calculated as genetic variance divided by genetic variance plus residual variance over effective replication. Effective replication was the harmonic mean of plot observations per genotype, accounting for imbalance.</a:t>
            </a:r>
          </a:p>
          <a:p>
            <a:r>
              <a:rPr/>
              <a:t>Heritability was generally high for flowering, harvest timing, height and tiller number. The highest estimates were days to flowering in LN2023 at 0.98, tiller number under HN2024 at 0.98, days to flowering under LN2024 at 0.97 and tiller number under LN2024 at 0.96.</a:t>
            </a:r>
          </a:p>
          <a:p>
            <a:r>
              <a:rPr/>
              <a:t>Fluorescence was the least heritable trait, particularly under HN2024 at 0.54. These estimates quantify repeatability within each environment and should not be interpreted as heritability across environments.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These box plots show the plot-level phenotype distributions for the eight traits measured in LN2023.</a:t>
            </a:r>
          </a:p>
          <a:p>
            <a:r>
              <a:rPr/>
              <a:t>Each point represents an individual field plot, while the boxes show the median and interquartile range. Facets have independent vertical scales because the traits use different measurement units.</a:t>
            </a:r>
          </a:p>
          <a:p>
            <a:r>
              <a:rPr/>
              <a:t>The plots reveal substantial phenotypic variation for flowering time, height, plant density, seed traits and inflorescence dimensions, which provides the variation required for genetic analysis.</a:t>
            </a:r>
          </a:p>
          <a:p>
            <a:r>
              <a:rPr/>
              <a:t>Outlying values were retained unless they had been identified as invalid during phenotype curation.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shows plot-level phenotype distributions within the LN2024 environment.</a:t>
            </a:r>
          </a:p>
          <a:p>
            <a:r>
              <a:rPr/>
              <a:t>The distributions include flowering, harvest timing, fluorescence, NDVI, tiller number, plant density, height and seed protein.</a:t>
            </a:r>
          </a:p>
          <a:p>
            <a:r>
              <a:rPr/>
              <a:t>The broad ranges for flowering, harvest, height and tiller number are consistent with the high within-environment heritabilities estimated for these traits.</a:t>
            </a:r>
          </a:p>
          <a:p>
            <a:r>
              <a:rPr/>
              <a:t>These plots are descriptive and represent raw plot observations; the GWAS used ASReml-adjusted genotype BLUEs.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shows plot-level phenotype distributions within the HN2024 environment.</a:t>
            </a:r>
          </a:p>
          <a:p>
            <a:r>
              <a:rPr/>
              <a:t>The same eight trait categories are displayed as for LN2024, allowing visual assessment of variability within the higher-nitrogen field half.</a:t>
            </a:r>
          </a:p>
          <a:p>
            <a:r>
              <a:rPr/>
              <a:t>Tiller number retains substantial genetic repeatability despite a right-skewed raw distribution. Fluorescence has more residual variation relative to genetic variation and consequently lower heritability.</a:t>
            </a:r>
          </a:p>
          <a:p>
            <a:r>
              <a:rPr/>
              <a:t>LN2024 and HN2024 occupied separate field halves, so differences between these descriptive distributions should not be treated as an unconfounded formal nitrogen-treatment test.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The three models contribute complementary evidence. FarmCPU detected the most signals: 89 records, including 66 that passed the trait-specific MAF criterion. BLINK contributed 53 records, including 38 MAF-supported records.</a:t>
            </a:r>
          </a:p>
          <a:p>
            <a:r>
              <a:rPr/>
              <a:t>MLM produced 39 significant records, but only one passed the trait-specific MAF filter. This indicates that many MLM discoveries involved alleles that were too rare in the analysed trait subset for confident prioritization.</a:t>
            </a:r>
          </a:p>
          <a:p>
            <a:r>
              <a:rPr/>
              <a:t>Median genomic inflation factors were close to one for all three models, suggesting generally acceptable calibration.</a:t>
            </a:r>
          </a:p>
          <a:p>
            <a:r>
              <a:rPr/>
              <a:t>I place the greatest weight on loci reproduced across models, rather than treating a detection from any single model as definitive.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is one of the most compelling recurrent loci. The original marker ID is SCAFFOLD_9_9021917, corresponding to chromosome 9 at 9,021,917 base pairs, and it was associated with plant height under both LN2024 and HN2024.</a:t>
            </a:r>
          </a:p>
          <a:p>
            <a:r>
              <a:rPr/>
              <a:t>Under LN2024, FarmCPU gave a P value of 8.97 times 10 to the minus 22. The trait-specific MAF was 0.093, and the estimated allelic effect was an increase of approximately 13.3 centimetres.</a:t>
            </a:r>
          </a:p>
          <a:p>
            <a:r>
              <a:rPr/>
              <a:t>The Manhattan plot shows the genome-wide distribution of association evidence. The adjacent QQ plot compares observed and expected P-value distributions and helps assess model calibration as well as the excess in the extreme tail.</a:t>
            </a:r>
          </a:p>
          <a:p>
            <a:r>
              <a:rPr/>
              <a:t>The SNP directly overlaps THYN1 in Yugu1 version 2 and Seita.9G141300 in T2T. However, the biological relevance of this annotation to height is presently uncertain, so this remains a positional candidate requiring validation.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restores the genotype-class view for the lead height association on chromosome 9.</a:t>
            </a:r>
          </a:p>
          <a:p>
            <a:r>
              <a:rPr/>
              <a:t>The non-imputed marker data contained 72 accessions with dosage zero and six with dosage two. No dosage-one heterozygotes were observed, and three accessions had missing genotypes at this position.</a:t>
            </a:r>
          </a:p>
          <a:p>
            <a:r>
              <a:rPr/>
              <a:t>The absence of heterozygotes is plausible in a predominantly self-pollinating, highly inbred diversity panel. The separation is therefore between the two observed homozygous classes, not among three observed dosage groups.</a:t>
            </a:r>
          </a:p>
          <a:p>
            <a:r>
              <a:rPr/>
              <a:t>The plot supports a phenotypic difference between observed genotype classes, but the very small alternate-homozygote group means the effect estimate should be validated independently.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example was selected because all three allele-dosage classes are represented with usable group sizes.</a:t>
            </a:r>
          </a:p>
          <a:p>
            <a:r>
              <a:rPr/>
              <a:t>At chromosome 2 position 14,229,303, there were 19 reference homozygotes, 52 heterozygotes and nine alternative homozygotes.</a:t>
            </a:r>
          </a:p>
          <a:p>
            <a:r>
              <a:rPr/>
              <a:t>Mean days to harvest decreased from approximately 172 days for dosage zero to 165 days for dosage one and 161 days for dosage two. This shows the direction and approximate magnitude of the allele-dose relationship.</a:t>
            </a:r>
          </a:p>
          <a:p>
            <a:r>
              <a:rPr/>
              <a:t>The FarmCPU association had a P value of 2.08 times 10 to the minus 12 and a trait-specific MAF of 0.4375. The SNP directly overlaps LOC101756570, currently annotated as an uncharacterized gene.</a:t>
            </a:r>
          </a:p>
          <a:p>
            <a:r>
              <a:rPr/>
              <a:t>Although the ordered means are consistent with an additive effect, independent validation is still required.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shows the LN2024 FarmCPU analysis for number of tillers as a single-trait Manhattan and QQ pair.</a:t>
            </a:r>
          </a:p>
          <a:p>
            <a:r>
              <a:rPr/>
              <a:t>The analysis included 81 accessions and produced 28 significant records representing 27 unique SNPs. Eight unique SNPs passed the trait-specific MAF criterion.</a:t>
            </a:r>
          </a:p>
          <a:p>
            <a:r>
              <a:rPr/>
              <a:t>The strongest association was on chromosome 6 at 32,361,467 base pairs, with a P value of 5.35 times 10 to the minus 19.</a:t>
            </a:r>
          </a:p>
          <a:p>
            <a:r>
              <a:rPr/>
              <a:t>The HN2024 tiller analysis remains available in the complete results, but is not repeated here because the main deck now presents eight unique traits.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shows the FarmCPU results for days to flowering in the LN2023 environment.</a:t>
            </a:r>
          </a:p>
          <a:p>
            <a:r>
              <a:rPr/>
              <a:t>The analysis included 125 accessions and produced 14 significant records representing 13 unique SNPs. Twelve unique SNPs passed the trait-specific MAF criterion.</a:t>
            </a:r>
          </a:p>
          <a:p>
            <a:r>
              <a:rPr/>
              <a:t>The strongest association was on chromosome 7 at 17,136,277 base pairs, with a P value of 2.66 times 10 to the minus 23. This locus was also detected by BLINK, strengthening the evidence through cross-model recurrence.</a:t>
            </a:r>
          </a:p>
          <a:p>
            <a:r>
              <a:rPr/>
              <a:t>The QQ plot is shown beside the Manhattan plot to assess the overall P-value distribution and distinguish the extreme association tail from broad test-statistic inflation.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presents days to harvest under the LN2024 treatment using FarmCPU.</a:t>
            </a:r>
          </a:p>
          <a:p>
            <a:r>
              <a:rPr/>
              <a:t>The analysis included 80 accessions. All seven significant association records represented unique SNPs and all seven passed the trait-specific MAF threshold.</a:t>
            </a:r>
          </a:p>
          <a:p>
            <a:r>
              <a:rPr/>
              <a:t>The strongest association was on chromosome 7 at 2,121,353 base pairs, with a P value of 1.07 times 10 to the minus 31. This was the smallest P value in the complete GWAS analysis.</a:t>
            </a:r>
          </a:p>
          <a:p>
            <a:r>
              <a:rPr/>
              <a:t>The adjacent QQ plot provides the corresponding calibration check. Although this is a statistically strong signal, validation in an independent experiment remains essential.</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presents panicle length in LN2023 using BLINK.</a:t>
            </a:r>
          </a:p>
          <a:p>
            <a:r>
              <a:rPr/>
              <a:t>The analysis included 93 accessions and identified 11 significant records. All 11 were unique SNPs and passed the trait-specific MAF criterion.</a:t>
            </a:r>
          </a:p>
          <a:p>
            <a:r>
              <a:rPr/>
              <a:t>The strongest signal was on chromosome 3 at 47,440,311 base pairs, with a P value of 3.90 times 10 to the minus 15.</a:t>
            </a:r>
          </a:p>
          <a:p>
            <a:r>
              <a:rPr/>
              <a:t>The Manhattan and QQ plots are displayed together so the association peak and the complete test-statistic distribution can be evaluated simultaneously.</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presents pedicel length in LN2023 using BLINK.</a:t>
            </a:r>
          </a:p>
          <a:p>
            <a:r>
              <a:rPr/>
              <a:t>The analysis included 93 accessions and produced 17 significant records representing 17 unique SNPs. Seven unique SNPs passed the trait-specific MAF criterion.</a:t>
            </a:r>
          </a:p>
          <a:p>
            <a:r>
              <a:rPr/>
              <a:t>The strongest signal was on chromosome 8 at 10,301,084 base pairs, with a P value of 9.14 times 10 to the minus 12.</a:t>
            </a:r>
          </a:p>
          <a:p>
            <a:r>
              <a:rPr/>
              <a:t>The reduction from 17 total to seven MAF-supported SNPs reinforces the need to check allele frequency within the phenotype-specific sample.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shows seed protein under HN2024 using FarmCPU.</a:t>
            </a:r>
          </a:p>
          <a:p>
            <a:r>
              <a:rPr/>
              <a:t>The analysis included 67 accessions and identified 11 significant records representing 10 unique SNPs. Eight unique SNPs passed the trait-specific MAF criterion.</a:t>
            </a:r>
          </a:p>
          <a:p>
            <a:r>
              <a:rPr/>
              <a:t>The strongest signal was on chromosome 6 at 28,801,701 base pairs, with a P value of 5.58 times 10 to the minus 18.</a:t>
            </a:r>
          </a:p>
          <a:p>
            <a:r>
              <a:rPr/>
              <a:t>Protein provides a quality-related trait alongside the agronomic and developmental traits represented in the other plot slides.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presents thousand-seed weight in LN2023 using BLINK.</a:t>
            </a:r>
          </a:p>
          <a:p>
            <a:r>
              <a:rPr/>
              <a:t>The analysis included 86 accessions and identified three significant records representing three unique SNPs. Two unique SNPs passed the trait-specific MAF criterion.</a:t>
            </a:r>
          </a:p>
          <a:p>
            <a:r>
              <a:rPr/>
              <a:t>The strongest signal was on chromosome 1 at 33,452,294 base pairs, with a P value of 4.63 times 10 to the minus 11.</a:t>
            </a:r>
          </a:p>
          <a:p>
            <a:r>
              <a:rPr/>
              <a:t>The Manhattan and QQ plots are presented together for consistency with the other seven unique-trait examples.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Seven MAF-supported SNPs recurred across models, traits or environments, making them the strongest follow-up targets.</a:t>
            </a:r>
          </a:p>
          <a:p>
            <a:r>
              <a:rPr/>
              <a:t>The flowering locus on SCAFFOLD 8 at 3.819 megabases and the height locus on SCAFFOLD 9 at 9.022 megabases were each observed under both LN2024 and HN2024.</a:t>
            </a:r>
          </a:p>
          <a:p>
            <a:r>
              <a:rPr/>
              <a:t>Other loci were supported by both BLINK and FarmCPU within an environment. The SCAFFOLD 2 locus linked flowering and harvest timing under LN2024, which may reflect related developmental timing processes.</a:t>
            </a:r>
          </a:p>
          <a:p>
            <a:r>
              <a:rPr/>
              <a:t>Recurrence does not prove causality, but it provides stronger evidence than a model-specific association and gives us a manageable shortlist for validation.</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regional plot focuses on the recurrent plant-height locus. The lead SNP is highlighted, and neighbouring markers are coloured according to linkage disequilibrium with that SNP.</a:t>
            </a:r>
          </a:p>
          <a:p>
            <a:r>
              <a:rPr/>
              <a:t>Candidate intervals were defined using markers within one megabase, an r-squared threshold of 0.20, lead-connected clusters and a maximum interval of plus or minus 250 kilobases.</a:t>
            </a:r>
          </a:p>
          <a:p>
            <a:r>
              <a:rPr/>
              <a:t>The regional evidence confirms a localized association peak and supports positional follow-up, but association and LD cannot distinguish the causal variant from correlated markers.</a:t>
            </a:r>
          </a:p>
          <a:p>
            <a:r>
              <a:rPr/>
              <a:t>The direct gene overlap is useful for prioritization, although functional evidence is still needed.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Panel A shows the density of all 848,687 quality-controlled SNPs in one-megabase windows across chromosomes 1 to 9. Darker windows have fewer markers and yellow windows have higher density.</a:t>
            </a:r>
          </a:p>
          <a:p>
            <a:r>
              <a:rPr/>
              <a:t>Panel B shows pairwise linkage disequilibrium as black points for reproducibly sampled marker pairs up to one megabase apart. The green line is the binned genome-wide mean r-squared, and the pale green band summarizes variation among chromosomes.</a:t>
            </a:r>
          </a:p>
          <a:p>
            <a:r>
              <a:rPr/>
              <a:t>Mean linkage disequilibrium is approximately 0.081 in the first 0 to 25 kilobase bin, declines most rapidly over the first 50 to 100 kilobases, and then approaches a background level near 0.04.</a:t>
            </a:r>
          </a:p>
          <a:p>
            <a:r>
              <a:rPr/>
              <a:t>Because mean r-squared is already below 0.20 in the first bin, a precise crossing distance at r-squared 0.20 cannot be estimated from these bins. The result indicates relatively low and rapidly decaying genome-wide LD in this diversity panel.</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summarizes how association signals were advanced to candidate-gene analysis.</a:t>
            </a:r>
          </a:p>
          <a:p>
            <a:r>
              <a:rPr/>
              <a:t>The 72 GWAS analyses produced 181 Bonferroni-significant trait-by-environment-by-model records, corresponding to 160 unique SNPs.</a:t>
            </a:r>
          </a:p>
          <a:p>
            <a:r>
              <a:rPr/>
              <a:t>Trait-specific allele frequencies were then checked in the accessions contributing to each phenotype. Ninety-five unique significant SNPs had MAF of at least 0.05 and formed the preferred biological follow-up set.</a:t>
            </a:r>
          </a:p>
          <a:p>
            <a:r>
              <a:rPr/>
              <a:t>Seven SNPs recurred across models or environments and were given additional priority.</a:t>
            </a:r>
          </a:p>
          <a:p>
            <a:r>
              <a:rPr/>
              <a:t>For each significant lead SNP, LD was evaluated within plus or minus one megabase. Markers with r-squared of at least 0.20 were used to build lead-connected intervals, capped at plus or minus 250 kilobases.</a:t>
            </a:r>
          </a:p>
          <a:p>
            <a:r>
              <a:rPr/>
              <a:t>Genes overlapping these intervals were annotated in Yugu1 version 2, and coordinates were independently lifted to the T2T reference. The strongest candidates combine recurrence, direct gene overlap, agreement between references and plausible biological function.</a:t>
            </a:r>
          </a:p>
          <a:p>
            <a:r>
              <a:rPr/>
              <a:t>All significant associations remain in the comprehensive output, including low-frequency signals, but these are flagged and not given equal priority.</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Candidate genes were identified independently with two reference resources: NCBI Yugu1 version 2 and the newer telomere-to-telomere assembly.</a:t>
            </a:r>
          </a:p>
          <a:p>
            <a:r>
              <a:rPr/>
              <a:t>The analysis linked significant regions to 735 unique genes in Yugu1 version 2 and 1,047 in T2T. Of the 181 association records, 180 were uniquely lifted to T2T and one could not be mapped.</a:t>
            </a:r>
          </a:p>
          <a:p>
            <a:r>
              <a:rPr/>
              <a:t>Examples for follow-up include the sulfate transporter SULTR3;4 and PLP3 for tiller number, APT1 and an RSL2 or bHLH139-like transcription factor near a panicle-length region, and THYN1 at the recurrent height locus.</a:t>
            </a:r>
          </a:p>
          <a:p>
            <a:r>
              <a:rPr/>
              <a:t>The larger T2T gene count does not represent new GWAS discoveries. It reflects differences in reference coordinates, interval composition and annotation. These genes are hypotheses, not causal assignments.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In conclusion, 95 unique Bonferroni-significant SNPs passed the trait-specific MAF criterion.</a:t>
            </a:r>
          </a:p>
          <a:p>
            <a:r>
              <a:rPr/>
              <a:t>Significant evidence was found for flowering and harvest timing, plant height, tiller number, panicle and pedicel length, and seed protein. Seven recurrent loci provide the highest-priority shortlist.</a:t>
            </a:r>
          </a:p>
          <a:p>
            <a:r>
              <a:rPr/>
              <a:t>The shared flowering and height loci across LN2024 and HN2024 are particularly interesting, while the two-reference analysis supplies positional gene hypotheses.</a:t>
            </a:r>
          </a:p>
          <a:p>
            <a:r>
              <a:rPr/>
              <a:t>The next steps are sensitivity analyses, formal testing of genotype-by-nitrogen interaction where the design permits, independent population or field validation, haplotype analysis and expression evidence.</a:t>
            </a:r>
          </a:p>
          <a:p>
            <a:r>
              <a:rPr/>
              <a:t>The main take-home message is that recurrent GWAS evidence combined with direct, reference-supported gene overlap gives a focused and fundable route from discovery to biological validation. Thank you.</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A">
    <p:bg>
      <p:bgPr>
        <a:solidFill>
          <a:srgbClr val="FFF9EB"/>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F655D9F-E414-498C-8023-E2E572C524CB}"/>
              </a:ext>
              <a:ext uri="{C183D7F6-B498-43B3-948B-1728B52AA6E4}">
                <adec:decorative xmlns:adec="http://schemas.microsoft.com/office/drawing/2017/decorative" val="1"/>
              </a:ext>
            </a:extLst>
          </p:cNvPr>
          <p:cNvPicPr>
            <a:picLocks noChangeAspect="1"/>
          </p:cNvPicPr>
          <p:nvPr userDrawn="1"/>
        </p:nvPicPr>
        <p:blipFill rotWithShape="1">
          <a:blip r:embed="rId2">
            <a:alphaModFix/>
            <a:extLst>
              <a:ext uri="{BEBA8EAE-BF5A-486C-A8C5-ECC9F3942E4B}">
                <a14:imgProps xmlns:a14="http://schemas.microsoft.com/office/drawing/2010/main">
                  <a14:imgLayer r:embed="rId3">
                    <a14:imgEffect>
                      <a14:brightnessContrast bright="-5000"/>
                    </a14:imgEffect>
                  </a14:imgLayer>
                </a14:imgProps>
              </a:ext>
            </a:extLst>
          </a:blip>
          <a:srcRect t="645" b="645"/>
          <a:stretch/>
        </p:blipFill>
        <p:spPr>
          <a:xfrm>
            <a:off x="0" y="0"/>
            <a:ext cx="12192000" cy="6858000"/>
          </a:xfrm>
          <a:prstGeom prst="rect">
            <a:avLst/>
          </a:prstGeom>
        </p:spPr>
      </p:pic>
      <p:sp>
        <p:nvSpPr>
          <p:cNvPr id="6" name="Title">
            <a:extLst>
              <a:ext uri="{FF2B5EF4-FFF2-40B4-BE49-F238E27FC236}">
                <a16:creationId xmlns:a16="http://schemas.microsoft.com/office/drawing/2014/main" id="{002932E8-A7B6-C33A-C286-5C07906BB4EA}"/>
              </a:ext>
            </a:extLst>
          </p:cNvPr>
          <p:cNvSpPr>
            <a:spLocks noGrp="1"/>
          </p:cNvSpPr>
          <p:nvPr>
            <p:ph type="title" hasCustomPrompt="1"/>
          </p:nvPr>
        </p:nvSpPr>
        <p:spPr>
          <a:xfrm>
            <a:off x="527050" y="1845524"/>
            <a:ext cx="11038955" cy="769441"/>
          </a:xfrm>
        </p:spPr>
        <p:txBody>
          <a:bodyPr/>
          <a:lstStyle>
            <a:lvl1pPr>
              <a:defRPr>
                <a:solidFill>
                  <a:schemeClr val="bg2"/>
                </a:solidFill>
              </a:defRPr>
            </a:lvl1pPr>
          </a:lstStyle>
          <a:p>
            <a:r>
              <a:rPr lang="en-US" dirty="0"/>
              <a:t>Click to edit title</a:t>
            </a:r>
            <a:endParaRPr lang="en-GB" dirty="0"/>
          </a:p>
        </p:txBody>
      </p:sp>
      <p:sp>
        <p:nvSpPr>
          <p:cNvPr id="11" name="Subtitle"/>
          <p:cNvSpPr>
            <a:spLocks noGrp="1"/>
          </p:cNvSpPr>
          <p:nvPr>
            <p:ph type="body" sz="quarter" idx="10" hasCustomPrompt="1"/>
          </p:nvPr>
        </p:nvSpPr>
        <p:spPr>
          <a:xfrm>
            <a:off x="527382" y="3142604"/>
            <a:ext cx="11038955" cy="762000"/>
          </a:xfrm>
          <a:prstGeom prst="rect">
            <a:avLst/>
          </a:prstGeom>
        </p:spPr>
        <p:txBody>
          <a:bodyPr>
            <a:normAutofit/>
          </a:bodyPr>
          <a:lstStyle>
            <a:lvl1pPr marL="0" indent="0">
              <a:buNone/>
              <a:defRPr sz="3600" b="1">
                <a:solidFill>
                  <a:schemeClr val="tx2">
                    <a:lumMod val="40000"/>
                    <a:lumOff val="60000"/>
                  </a:schemeClr>
                </a:solidFill>
                <a:latin typeface="Arial" panose="020B0604020202020204" pitchFamily="34" charset="0"/>
                <a:cs typeface="Arial" panose="020B0604020202020204" pitchFamily="34" charset="0"/>
              </a:defRPr>
            </a:lvl1pPr>
            <a:lvl2pPr marL="457200" indent="0">
              <a:buNone/>
              <a:defRPr>
                <a:solidFill>
                  <a:schemeClr val="bg1">
                    <a:lumMod val="50000"/>
                  </a:schemeClr>
                </a:solidFill>
              </a:defRPr>
            </a:lvl2pPr>
            <a:lvl3pPr marL="914400" indent="0">
              <a:buNone/>
              <a:defRPr>
                <a:solidFill>
                  <a:schemeClr val="bg1">
                    <a:lumMod val="50000"/>
                  </a:schemeClr>
                </a:solidFill>
              </a:defRPr>
            </a:lvl3pPr>
            <a:lvl4pPr marL="1371600" indent="0">
              <a:buNone/>
              <a:defRPr>
                <a:solidFill>
                  <a:schemeClr val="bg1">
                    <a:lumMod val="50000"/>
                  </a:schemeClr>
                </a:solidFill>
              </a:defRPr>
            </a:lvl4pPr>
            <a:lvl5pPr marL="1828800" indent="0">
              <a:buNone/>
              <a:defRPr>
                <a:solidFill>
                  <a:schemeClr val="bg1">
                    <a:lumMod val="50000"/>
                  </a:schemeClr>
                </a:solidFill>
              </a:defRPr>
            </a:lvl5pPr>
          </a:lstStyle>
          <a:p>
            <a:pPr lvl="0"/>
            <a:r>
              <a:rPr lang="en-US" dirty="0"/>
              <a:t>Click to edit subtitle</a:t>
            </a:r>
            <a:endParaRPr lang="en-GB" dirty="0"/>
          </a:p>
        </p:txBody>
      </p:sp>
      <p:sp>
        <p:nvSpPr>
          <p:cNvPr id="3" name="Author Info"/>
          <p:cNvSpPr>
            <a:spLocks noGrp="1"/>
          </p:cNvSpPr>
          <p:nvPr>
            <p:ph type="subTitle" idx="1" hasCustomPrompt="1"/>
          </p:nvPr>
        </p:nvSpPr>
        <p:spPr>
          <a:xfrm>
            <a:off x="527381" y="4321415"/>
            <a:ext cx="11041227" cy="1931602"/>
          </a:xfrm>
          <a:prstGeom prst="rect">
            <a:avLst/>
          </a:prstGeom>
        </p:spPr>
        <p:txBody>
          <a:bodyPr/>
          <a:lstStyle>
            <a:lvl1pPr marL="0" indent="0" algn="l">
              <a:buNone/>
              <a:defRPr sz="2800" baseline="0">
                <a:solidFill>
                  <a:schemeClr val="bg2"/>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enter author details</a:t>
            </a:r>
          </a:p>
          <a:p>
            <a:endParaRPr lang="en-US" dirty="0"/>
          </a:p>
          <a:p>
            <a:r>
              <a:rPr lang="en-US" dirty="0"/>
              <a:t>CREAM SLIDES ARE GOOD FOR ACCESSIBILITY</a:t>
            </a:r>
            <a:endParaRPr lang="en-GB" dirty="0"/>
          </a:p>
        </p:txBody>
      </p:sp>
      <p:pic>
        <p:nvPicPr>
          <p:cNvPr id="8" name="Picture 7">
            <a:extLst>
              <a:ext uri="{FF2B5EF4-FFF2-40B4-BE49-F238E27FC236}">
                <a16:creationId xmlns:a16="http://schemas.microsoft.com/office/drawing/2014/main" id="{4BE6F703-8ECB-4194-ADAA-06BB88D5E67D}"/>
              </a:ext>
              <a:ext uri="{C183D7F6-B498-43B3-948B-1728B52AA6E4}">
                <adec:decorative xmlns:adec="http://schemas.microsoft.com/office/drawing/2017/decorative" val="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04945" y="264419"/>
            <a:ext cx="6183157" cy="861554"/>
          </a:xfrm>
          <a:prstGeom prst="rect">
            <a:avLst/>
          </a:prstGeom>
        </p:spPr>
      </p:pic>
      <p:pic>
        <p:nvPicPr>
          <p:cNvPr id="9" name="Picture 8">
            <a:extLst>
              <a:ext uri="{FF2B5EF4-FFF2-40B4-BE49-F238E27FC236}">
                <a16:creationId xmlns:a16="http://schemas.microsoft.com/office/drawing/2014/main" id="{35DB7826-11C9-4DBC-8DD8-FA5C5937A05F}"/>
              </a:ext>
              <a:ext uri="{C183D7F6-B498-43B3-948B-1728B52AA6E4}">
                <adec:decorative xmlns:adec="http://schemas.microsoft.com/office/drawing/2017/decorative" val="1"/>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668353" y="419767"/>
            <a:ext cx="1900240" cy="689896"/>
          </a:xfrm>
          <a:prstGeom prst="rect">
            <a:avLst/>
          </a:prstGeom>
        </p:spPr>
      </p:pic>
    </p:spTree>
    <p:extLst>
      <p:ext uri="{BB962C8B-B14F-4D97-AF65-F5344CB8AC3E}">
        <p14:creationId xmlns:p14="http://schemas.microsoft.com/office/powerpoint/2010/main" val="3354154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age B">
    <p:bg>
      <p:bgPr>
        <a:solidFill>
          <a:srgbClr val="FFF9EB"/>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002932E8-A7B6-C33A-C286-5C07906BB4EA}"/>
              </a:ext>
            </a:extLst>
          </p:cNvPr>
          <p:cNvSpPr>
            <a:spLocks noGrp="1"/>
          </p:cNvSpPr>
          <p:nvPr>
            <p:ph type="title" hasCustomPrompt="1"/>
          </p:nvPr>
        </p:nvSpPr>
        <p:spPr>
          <a:xfrm>
            <a:off x="527050" y="1845524"/>
            <a:ext cx="11038955" cy="769441"/>
          </a:xfrm>
        </p:spPr>
        <p:txBody>
          <a:bodyPr/>
          <a:lstStyle/>
          <a:p>
            <a:r>
              <a:rPr lang="en-US" dirty="0"/>
              <a:t>Click to edit title</a:t>
            </a:r>
            <a:endParaRPr lang="en-GB" dirty="0"/>
          </a:p>
        </p:txBody>
      </p:sp>
      <p:sp>
        <p:nvSpPr>
          <p:cNvPr id="11" name="Subtitle"/>
          <p:cNvSpPr>
            <a:spLocks noGrp="1"/>
          </p:cNvSpPr>
          <p:nvPr>
            <p:ph type="body" sz="quarter" idx="10" hasCustomPrompt="1"/>
          </p:nvPr>
        </p:nvSpPr>
        <p:spPr>
          <a:xfrm>
            <a:off x="527382" y="3142604"/>
            <a:ext cx="11038955" cy="762000"/>
          </a:xfrm>
          <a:prstGeom prst="rect">
            <a:avLst/>
          </a:prstGeom>
        </p:spPr>
        <p:txBody>
          <a:bodyPr>
            <a:normAutofit/>
          </a:bodyPr>
          <a:lstStyle>
            <a:lvl1pPr marL="0" indent="0">
              <a:buNone/>
              <a:defRPr sz="3600" b="1">
                <a:solidFill>
                  <a:schemeClr val="tx2"/>
                </a:solidFill>
                <a:latin typeface="Arial" panose="020B0604020202020204" pitchFamily="34" charset="0"/>
                <a:cs typeface="Arial" panose="020B0604020202020204" pitchFamily="34" charset="0"/>
              </a:defRPr>
            </a:lvl1pPr>
            <a:lvl2pPr marL="457200" indent="0">
              <a:buNone/>
              <a:defRPr>
                <a:solidFill>
                  <a:schemeClr val="bg1">
                    <a:lumMod val="50000"/>
                  </a:schemeClr>
                </a:solidFill>
              </a:defRPr>
            </a:lvl2pPr>
            <a:lvl3pPr marL="914400" indent="0">
              <a:buNone/>
              <a:defRPr>
                <a:solidFill>
                  <a:schemeClr val="bg1">
                    <a:lumMod val="50000"/>
                  </a:schemeClr>
                </a:solidFill>
              </a:defRPr>
            </a:lvl3pPr>
            <a:lvl4pPr marL="1371600" indent="0">
              <a:buNone/>
              <a:defRPr>
                <a:solidFill>
                  <a:schemeClr val="bg1">
                    <a:lumMod val="50000"/>
                  </a:schemeClr>
                </a:solidFill>
              </a:defRPr>
            </a:lvl4pPr>
            <a:lvl5pPr marL="1828800" indent="0">
              <a:buNone/>
              <a:defRPr>
                <a:solidFill>
                  <a:schemeClr val="bg1">
                    <a:lumMod val="50000"/>
                  </a:schemeClr>
                </a:solidFill>
              </a:defRPr>
            </a:lvl5pPr>
          </a:lstStyle>
          <a:p>
            <a:pPr lvl="0"/>
            <a:r>
              <a:rPr lang="en-US" dirty="0"/>
              <a:t>Click to edit subtitle</a:t>
            </a:r>
            <a:endParaRPr lang="en-GB" dirty="0"/>
          </a:p>
        </p:txBody>
      </p:sp>
      <p:sp>
        <p:nvSpPr>
          <p:cNvPr id="3" name="Author Info"/>
          <p:cNvSpPr>
            <a:spLocks noGrp="1"/>
          </p:cNvSpPr>
          <p:nvPr>
            <p:ph type="subTitle" idx="1" hasCustomPrompt="1"/>
          </p:nvPr>
        </p:nvSpPr>
        <p:spPr>
          <a:xfrm>
            <a:off x="527381" y="4321415"/>
            <a:ext cx="11041227" cy="1931602"/>
          </a:xfrm>
          <a:prstGeom prst="rect">
            <a:avLst/>
          </a:prstGeom>
        </p:spPr>
        <p:txBody>
          <a:bodyPr/>
          <a:lstStyle>
            <a:lvl1pPr marL="0" indent="0" algn="l">
              <a:buNone/>
              <a:defRPr sz="2800" baseline="0">
                <a:solidFill>
                  <a:schemeClr val="tx2">
                    <a:lumMod val="7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enter author details</a:t>
            </a:r>
          </a:p>
          <a:p>
            <a:endParaRPr lang="en-US" dirty="0"/>
          </a:p>
          <a:p>
            <a:r>
              <a:rPr lang="en-US" dirty="0"/>
              <a:t>CREAM SLIDES ARE GOOD FOR ACCESSIBILITY</a:t>
            </a:r>
            <a:endParaRPr lang="en-GB" dirty="0"/>
          </a:p>
        </p:txBody>
      </p:sp>
      <p:pic>
        <p:nvPicPr>
          <p:cNvPr id="7" name="Picture 6">
            <a:extLst>
              <a:ext uri="{FF2B5EF4-FFF2-40B4-BE49-F238E27FC236}">
                <a16:creationId xmlns:a16="http://schemas.microsoft.com/office/drawing/2014/main" id="{D1FA12F1-CC85-F5BC-2BF9-2447B4937643}"/>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75128" y="422148"/>
            <a:ext cx="1891209" cy="685134"/>
          </a:xfrm>
          <a:prstGeom prst="rect">
            <a:avLst/>
          </a:prstGeom>
        </p:spPr>
      </p:pic>
      <p:pic>
        <p:nvPicPr>
          <p:cNvPr id="8" name="Picture 7">
            <a:extLst>
              <a:ext uri="{FF2B5EF4-FFF2-40B4-BE49-F238E27FC236}">
                <a16:creationId xmlns:a16="http://schemas.microsoft.com/office/drawing/2014/main" id="{FB4A9956-BFA9-4359-9A36-3CEACCD9CD02}"/>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5440" y="320367"/>
            <a:ext cx="5816131" cy="802789"/>
          </a:xfrm>
          <a:prstGeom prst="rect">
            <a:avLst/>
          </a:prstGeom>
        </p:spPr>
      </p:pic>
    </p:spTree>
    <p:extLst>
      <p:ext uri="{BB962C8B-B14F-4D97-AF65-F5344CB8AC3E}">
        <p14:creationId xmlns:p14="http://schemas.microsoft.com/office/powerpoint/2010/main" val="1378164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Content">
    <p:bg>
      <p:bgPr>
        <a:solidFill>
          <a:srgbClr val="FFF9EB"/>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953448AD-DD08-B40E-1C94-7251E1BCDE5E}"/>
              </a:ext>
            </a:extLst>
          </p:cNvPr>
          <p:cNvSpPr>
            <a:spLocks noGrp="1"/>
          </p:cNvSpPr>
          <p:nvPr>
            <p:ph type="title" hasCustomPrompt="1"/>
          </p:nvPr>
        </p:nvSpPr>
        <p:spPr/>
        <p:txBody>
          <a:bodyPr/>
          <a:lstStyle/>
          <a:p>
            <a:r>
              <a:rPr lang="en-US" dirty="0"/>
              <a:t>Click to edit title</a:t>
            </a:r>
            <a:endParaRPr lang="en-GB" dirty="0"/>
          </a:p>
        </p:txBody>
      </p:sp>
      <p:sp>
        <p:nvSpPr>
          <p:cNvPr id="4" name="Content">
            <a:extLst>
              <a:ext uri="{FF2B5EF4-FFF2-40B4-BE49-F238E27FC236}">
                <a16:creationId xmlns:a16="http://schemas.microsoft.com/office/drawing/2014/main" id="{4A70E525-BA3E-4A8C-9FB6-ABCB4E51D313}"/>
              </a:ext>
            </a:extLst>
          </p:cNvPr>
          <p:cNvSpPr>
            <a:spLocks noGrp="1"/>
          </p:cNvSpPr>
          <p:nvPr>
            <p:ph sz="quarter" idx="11" hasCustomPrompt="1"/>
          </p:nvPr>
        </p:nvSpPr>
        <p:spPr>
          <a:xfrm>
            <a:off x="527380" y="1440802"/>
            <a:ext cx="11137570" cy="4502798"/>
          </a:xfrm>
        </p:spPr>
        <p:txBody>
          <a:bodyPr/>
          <a:lstStyle/>
          <a:p>
            <a:pPr lvl="0"/>
            <a:r>
              <a:rPr lang="en-US" dirty="0"/>
              <a:t>Click to add text or media</a:t>
            </a:r>
            <a:endParaRPr lang="en-GB" dirty="0"/>
          </a:p>
        </p:txBody>
      </p:sp>
      <p:pic>
        <p:nvPicPr>
          <p:cNvPr id="7" name="Picture 6">
            <a:extLst>
              <a:ext uri="{FF2B5EF4-FFF2-40B4-BE49-F238E27FC236}">
                <a16:creationId xmlns:a16="http://schemas.microsoft.com/office/drawing/2014/main" id="{1ACCB079-0444-456B-96D7-F23C4C695E55}"/>
              </a:ext>
              <a:ext uri="{C183D7F6-B498-43B3-948B-1728B52AA6E4}">
                <adec:decorative xmlns:adec="http://schemas.microsoft.com/office/drawing/2017/decorative" val="1"/>
              </a:ext>
            </a:extLst>
          </p:cNvPr>
          <p:cNvPicPr>
            <a:picLocks noChangeAspect="1"/>
          </p:cNvPicPr>
          <p:nvPr userDrawn="1"/>
        </p:nvPicPr>
        <p:blipFill>
          <a:blip r:embed="rId2" cstate="print">
            <a:alphaModFix amt="30000"/>
            <a:extLst>
              <a:ext uri="{28A0092B-C50C-407E-A947-70E740481C1C}">
                <a14:useLocalDpi xmlns:a14="http://schemas.microsoft.com/office/drawing/2010/main" val="0"/>
              </a:ext>
            </a:extLst>
          </a:blip>
          <a:stretch>
            <a:fillRect/>
          </a:stretch>
        </p:blipFill>
        <p:spPr>
          <a:xfrm>
            <a:off x="257968" y="6107907"/>
            <a:ext cx="4794040" cy="661712"/>
          </a:xfrm>
          <a:prstGeom prst="rect">
            <a:avLst/>
          </a:prstGeom>
        </p:spPr>
      </p:pic>
      <p:pic>
        <p:nvPicPr>
          <p:cNvPr id="8" name="Picture 7">
            <a:extLst>
              <a:ext uri="{FF2B5EF4-FFF2-40B4-BE49-F238E27FC236}">
                <a16:creationId xmlns:a16="http://schemas.microsoft.com/office/drawing/2014/main" id="{5108E264-8B71-415B-80AD-BFE940B5FE00}"/>
              </a:ext>
              <a:ext uri="{C183D7F6-B498-43B3-948B-1728B52AA6E4}">
                <adec:decorative xmlns:adec="http://schemas.microsoft.com/office/drawing/2017/decorative" val="1"/>
              </a:ext>
            </a:extLst>
          </p:cNvPr>
          <p:cNvPicPr>
            <a:picLocks noChangeAspect="1"/>
          </p:cNvPicPr>
          <p:nvPr userDrawn="1"/>
        </p:nvPicPr>
        <p:blipFill>
          <a:blip r:embed="rId3" cstate="print">
            <a:alphaModFix amt="40000"/>
            <a:extLst>
              <a:ext uri="{28A0092B-C50C-407E-A947-70E740481C1C}">
                <a14:useLocalDpi xmlns:a14="http://schemas.microsoft.com/office/drawing/2010/main" val="0"/>
              </a:ext>
            </a:extLst>
          </a:blip>
          <a:stretch>
            <a:fillRect/>
          </a:stretch>
        </p:blipFill>
        <p:spPr>
          <a:xfrm>
            <a:off x="10366690" y="6201812"/>
            <a:ext cx="1567342" cy="567807"/>
          </a:xfrm>
          <a:prstGeom prst="rect">
            <a:avLst/>
          </a:prstGeom>
        </p:spPr>
      </p:pic>
    </p:spTree>
    <p:extLst>
      <p:ext uri="{BB962C8B-B14F-4D97-AF65-F5344CB8AC3E}">
        <p14:creationId xmlns:p14="http://schemas.microsoft.com/office/powerpoint/2010/main" val="2021987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Content (no logos)">
    <p:bg>
      <p:bgPr>
        <a:solidFill>
          <a:srgbClr val="FFF9EB"/>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41218FD-7C90-3628-4677-7053F0798B9D}"/>
              </a:ext>
            </a:extLst>
          </p:cNvPr>
          <p:cNvSpPr>
            <a:spLocks noGrp="1"/>
          </p:cNvSpPr>
          <p:nvPr>
            <p:ph type="title" hasCustomPrompt="1"/>
          </p:nvPr>
        </p:nvSpPr>
        <p:spPr/>
        <p:txBody>
          <a:bodyPr/>
          <a:lstStyle>
            <a:lvl1pPr>
              <a:defRPr/>
            </a:lvl1pPr>
          </a:lstStyle>
          <a:p>
            <a:r>
              <a:rPr lang="en-US" dirty="0"/>
              <a:t>Click to edit title</a:t>
            </a:r>
            <a:endParaRPr lang="en-GB" dirty="0"/>
          </a:p>
        </p:txBody>
      </p:sp>
      <p:sp>
        <p:nvSpPr>
          <p:cNvPr id="4" name="Content">
            <a:extLst>
              <a:ext uri="{FF2B5EF4-FFF2-40B4-BE49-F238E27FC236}">
                <a16:creationId xmlns:a16="http://schemas.microsoft.com/office/drawing/2014/main" id="{40AB41B2-6EA2-46F6-B743-94A07E943549}"/>
              </a:ext>
            </a:extLst>
          </p:cNvPr>
          <p:cNvSpPr>
            <a:spLocks noGrp="1"/>
          </p:cNvSpPr>
          <p:nvPr>
            <p:ph sz="quarter" idx="11" hasCustomPrompt="1"/>
          </p:nvPr>
        </p:nvSpPr>
        <p:spPr>
          <a:xfrm>
            <a:off x="527380" y="1440802"/>
            <a:ext cx="11137570" cy="4940527"/>
          </a:xfrm>
        </p:spPr>
        <p:txBody>
          <a:bodyPr/>
          <a:lstStyle/>
          <a:p>
            <a:pPr lvl="0"/>
            <a:r>
              <a:rPr lang="en-US" dirty="0"/>
              <a:t>Click to add text or media</a:t>
            </a:r>
            <a:endParaRPr lang="en-GB" dirty="0"/>
          </a:p>
        </p:txBody>
      </p:sp>
    </p:spTree>
    <p:extLst>
      <p:ext uri="{BB962C8B-B14F-4D97-AF65-F5344CB8AC3E}">
        <p14:creationId xmlns:p14="http://schemas.microsoft.com/office/powerpoint/2010/main" val="2773033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ight Image w Content">
    <p:bg>
      <p:bgPr>
        <a:solidFill>
          <a:srgbClr val="FFF9EB"/>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3BD5DA0-494C-6A4C-3263-AB71DE3CC03C}"/>
              </a:ext>
            </a:extLst>
          </p:cNvPr>
          <p:cNvSpPr>
            <a:spLocks noGrp="1"/>
          </p:cNvSpPr>
          <p:nvPr>
            <p:ph type="title" hasCustomPrompt="1"/>
          </p:nvPr>
        </p:nvSpPr>
        <p:spPr/>
        <p:txBody>
          <a:bodyPr/>
          <a:lstStyle/>
          <a:p>
            <a:r>
              <a:rPr lang="en-US" dirty="0"/>
              <a:t>Click to edit title</a:t>
            </a:r>
            <a:endParaRPr lang="en-GB" dirty="0"/>
          </a:p>
        </p:txBody>
      </p:sp>
      <p:sp>
        <p:nvSpPr>
          <p:cNvPr id="12" name="Content Left">
            <a:extLst>
              <a:ext uri="{FF2B5EF4-FFF2-40B4-BE49-F238E27FC236}">
                <a16:creationId xmlns:a16="http://schemas.microsoft.com/office/drawing/2014/main" id="{03FC0104-EACC-4827-B925-E006AA50481A}"/>
              </a:ext>
            </a:extLst>
          </p:cNvPr>
          <p:cNvSpPr>
            <a:spLocks noGrp="1"/>
          </p:cNvSpPr>
          <p:nvPr>
            <p:ph sz="quarter" idx="14" hasCustomPrompt="1"/>
          </p:nvPr>
        </p:nvSpPr>
        <p:spPr>
          <a:xfrm>
            <a:off x="527050" y="1440802"/>
            <a:ext cx="7710863" cy="4502799"/>
          </a:xfrm>
        </p:spPr>
        <p:txBody>
          <a:bodyPr/>
          <a:lstStyle/>
          <a:p>
            <a:pPr lvl="0"/>
            <a:r>
              <a:rPr lang="en-US" dirty="0"/>
              <a:t>Click to add text or media</a:t>
            </a:r>
            <a:endParaRPr lang="en-GB" dirty="0"/>
          </a:p>
        </p:txBody>
      </p:sp>
      <p:sp>
        <p:nvSpPr>
          <p:cNvPr id="13" name="Content Right">
            <a:extLst>
              <a:ext uri="{FF2B5EF4-FFF2-40B4-BE49-F238E27FC236}">
                <a16:creationId xmlns:a16="http://schemas.microsoft.com/office/drawing/2014/main" id="{312F14F0-586F-4EFF-AB0B-502A3D704B51}"/>
              </a:ext>
            </a:extLst>
          </p:cNvPr>
          <p:cNvSpPr>
            <a:spLocks noGrp="1"/>
          </p:cNvSpPr>
          <p:nvPr>
            <p:ph sz="quarter" idx="15" hasCustomPrompt="1"/>
          </p:nvPr>
        </p:nvSpPr>
        <p:spPr>
          <a:xfrm>
            <a:off x="8553795" y="1440800"/>
            <a:ext cx="3107593" cy="4502799"/>
          </a:xfrm>
        </p:spPr>
        <p:txBody>
          <a:bodyPr/>
          <a:lstStyle/>
          <a:p>
            <a:pPr lvl="0"/>
            <a:r>
              <a:rPr lang="en-US" dirty="0"/>
              <a:t>Click to add text or media</a:t>
            </a:r>
            <a:endParaRPr lang="en-GB" dirty="0"/>
          </a:p>
        </p:txBody>
      </p:sp>
      <p:pic>
        <p:nvPicPr>
          <p:cNvPr id="7" name="Picture 6">
            <a:extLst>
              <a:ext uri="{FF2B5EF4-FFF2-40B4-BE49-F238E27FC236}">
                <a16:creationId xmlns:a16="http://schemas.microsoft.com/office/drawing/2014/main" id="{4DE90A1E-D2B5-48E2-8B53-6CEAC55DDF1E}"/>
              </a:ext>
              <a:ext uri="{C183D7F6-B498-43B3-948B-1728B52AA6E4}">
                <adec:decorative xmlns:adec="http://schemas.microsoft.com/office/drawing/2017/decorative" val="1"/>
              </a:ext>
            </a:extLst>
          </p:cNvPr>
          <p:cNvPicPr>
            <a:picLocks noChangeAspect="1"/>
          </p:cNvPicPr>
          <p:nvPr userDrawn="1"/>
        </p:nvPicPr>
        <p:blipFill>
          <a:blip r:embed="rId2" cstate="print">
            <a:alphaModFix amt="30000"/>
            <a:extLst>
              <a:ext uri="{28A0092B-C50C-407E-A947-70E740481C1C}">
                <a14:useLocalDpi xmlns:a14="http://schemas.microsoft.com/office/drawing/2010/main" val="0"/>
              </a:ext>
            </a:extLst>
          </a:blip>
          <a:stretch>
            <a:fillRect/>
          </a:stretch>
        </p:blipFill>
        <p:spPr>
          <a:xfrm>
            <a:off x="257968" y="6107907"/>
            <a:ext cx="4794040" cy="661712"/>
          </a:xfrm>
          <a:prstGeom prst="rect">
            <a:avLst/>
          </a:prstGeom>
        </p:spPr>
      </p:pic>
      <p:pic>
        <p:nvPicPr>
          <p:cNvPr id="8" name="Picture 7">
            <a:extLst>
              <a:ext uri="{FF2B5EF4-FFF2-40B4-BE49-F238E27FC236}">
                <a16:creationId xmlns:a16="http://schemas.microsoft.com/office/drawing/2014/main" id="{26477472-9F88-4F2D-8B89-11CD4DBD1E51}"/>
              </a:ext>
              <a:ext uri="{C183D7F6-B498-43B3-948B-1728B52AA6E4}">
                <adec:decorative xmlns:adec="http://schemas.microsoft.com/office/drawing/2017/decorative" val="1"/>
              </a:ext>
            </a:extLst>
          </p:cNvPr>
          <p:cNvPicPr>
            <a:picLocks noChangeAspect="1"/>
          </p:cNvPicPr>
          <p:nvPr userDrawn="1"/>
        </p:nvPicPr>
        <p:blipFill>
          <a:blip r:embed="rId3" cstate="print">
            <a:alphaModFix amt="40000"/>
            <a:extLst>
              <a:ext uri="{28A0092B-C50C-407E-A947-70E740481C1C}">
                <a14:useLocalDpi xmlns:a14="http://schemas.microsoft.com/office/drawing/2010/main" val="0"/>
              </a:ext>
            </a:extLst>
          </a:blip>
          <a:stretch>
            <a:fillRect/>
          </a:stretch>
        </p:blipFill>
        <p:spPr>
          <a:xfrm>
            <a:off x="10366690" y="6201812"/>
            <a:ext cx="1567342" cy="567807"/>
          </a:xfrm>
          <a:prstGeom prst="rect">
            <a:avLst/>
          </a:prstGeom>
        </p:spPr>
      </p:pic>
    </p:spTree>
    <p:extLst>
      <p:ext uri="{BB962C8B-B14F-4D97-AF65-F5344CB8AC3E}">
        <p14:creationId xmlns:p14="http://schemas.microsoft.com/office/powerpoint/2010/main" val="1097563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w Content">
    <p:bg>
      <p:bgPr>
        <a:solidFill>
          <a:srgbClr val="FFF9EB"/>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A54708F-EC8D-A308-ABA0-71D4481B577A}"/>
              </a:ext>
            </a:extLst>
          </p:cNvPr>
          <p:cNvSpPr>
            <a:spLocks noGrp="1"/>
          </p:cNvSpPr>
          <p:nvPr>
            <p:ph type="title" hasCustomPrompt="1"/>
          </p:nvPr>
        </p:nvSpPr>
        <p:spPr/>
        <p:txBody>
          <a:bodyPr/>
          <a:lstStyle>
            <a:lvl1pPr>
              <a:defRPr/>
            </a:lvl1pPr>
          </a:lstStyle>
          <a:p>
            <a:r>
              <a:rPr lang="en-US" dirty="0"/>
              <a:t>Click to edit title</a:t>
            </a:r>
            <a:endParaRPr lang="en-GB" dirty="0"/>
          </a:p>
        </p:txBody>
      </p:sp>
      <p:sp>
        <p:nvSpPr>
          <p:cNvPr id="8" name="Content Left">
            <a:extLst>
              <a:ext uri="{FF2B5EF4-FFF2-40B4-BE49-F238E27FC236}">
                <a16:creationId xmlns:a16="http://schemas.microsoft.com/office/drawing/2014/main" id="{BC1B0E81-1E9A-4D18-93C3-37047543039E}"/>
              </a:ext>
            </a:extLst>
          </p:cNvPr>
          <p:cNvSpPr>
            <a:spLocks noGrp="1"/>
          </p:cNvSpPr>
          <p:nvPr>
            <p:ph sz="quarter" idx="15" hasCustomPrompt="1"/>
          </p:nvPr>
        </p:nvSpPr>
        <p:spPr>
          <a:xfrm>
            <a:off x="527050" y="1440802"/>
            <a:ext cx="3107592" cy="4502798"/>
          </a:xfrm>
        </p:spPr>
        <p:txBody>
          <a:bodyPr/>
          <a:lstStyle>
            <a:lvl1pPr>
              <a:defRPr/>
            </a:lvl1pPr>
          </a:lstStyle>
          <a:p>
            <a:pPr lvl="0"/>
            <a:r>
              <a:rPr lang="en-GB" dirty="0"/>
              <a:t>Click add text or media</a:t>
            </a:r>
          </a:p>
        </p:txBody>
      </p:sp>
      <p:sp>
        <p:nvSpPr>
          <p:cNvPr id="12" name="Content Right">
            <a:extLst>
              <a:ext uri="{FF2B5EF4-FFF2-40B4-BE49-F238E27FC236}">
                <a16:creationId xmlns:a16="http://schemas.microsoft.com/office/drawing/2014/main" id="{03FC0104-EACC-4827-B925-E006AA50481A}"/>
              </a:ext>
            </a:extLst>
          </p:cNvPr>
          <p:cNvSpPr>
            <a:spLocks noGrp="1"/>
          </p:cNvSpPr>
          <p:nvPr>
            <p:ph sz="quarter" idx="14" hasCustomPrompt="1"/>
          </p:nvPr>
        </p:nvSpPr>
        <p:spPr>
          <a:xfrm>
            <a:off x="3950526" y="1440802"/>
            <a:ext cx="7710863" cy="4502798"/>
          </a:xfrm>
        </p:spPr>
        <p:txBody>
          <a:bodyPr/>
          <a:lstStyle/>
          <a:p>
            <a:pPr lvl="0"/>
            <a:r>
              <a:rPr lang="en-US" dirty="0"/>
              <a:t>Click to add text or media</a:t>
            </a:r>
            <a:endParaRPr lang="en-GB" dirty="0"/>
          </a:p>
        </p:txBody>
      </p:sp>
      <p:pic>
        <p:nvPicPr>
          <p:cNvPr id="7" name="Picture 6">
            <a:extLst>
              <a:ext uri="{FF2B5EF4-FFF2-40B4-BE49-F238E27FC236}">
                <a16:creationId xmlns:a16="http://schemas.microsoft.com/office/drawing/2014/main" id="{0486D76B-DBA6-4666-9856-D7A5CB50B339}"/>
              </a:ext>
              <a:ext uri="{C183D7F6-B498-43B3-948B-1728B52AA6E4}">
                <adec:decorative xmlns:adec="http://schemas.microsoft.com/office/drawing/2017/decorative" val="1"/>
              </a:ext>
            </a:extLst>
          </p:cNvPr>
          <p:cNvPicPr>
            <a:picLocks noChangeAspect="1"/>
          </p:cNvPicPr>
          <p:nvPr userDrawn="1"/>
        </p:nvPicPr>
        <p:blipFill>
          <a:blip r:embed="rId2" cstate="print">
            <a:alphaModFix amt="30000"/>
            <a:extLst>
              <a:ext uri="{28A0092B-C50C-407E-A947-70E740481C1C}">
                <a14:useLocalDpi xmlns:a14="http://schemas.microsoft.com/office/drawing/2010/main" val="0"/>
              </a:ext>
            </a:extLst>
          </a:blip>
          <a:stretch>
            <a:fillRect/>
          </a:stretch>
        </p:blipFill>
        <p:spPr>
          <a:xfrm>
            <a:off x="257968" y="6107907"/>
            <a:ext cx="4794040" cy="661712"/>
          </a:xfrm>
          <a:prstGeom prst="rect">
            <a:avLst/>
          </a:prstGeom>
        </p:spPr>
      </p:pic>
      <p:pic>
        <p:nvPicPr>
          <p:cNvPr id="9" name="Picture 8">
            <a:extLst>
              <a:ext uri="{FF2B5EF4-FFF2-40B4-BE49-F238E27FC236}">
                <a16:creationId xmlns:a16="http://schemas.microsoft.com/office/drawing/2014/main" id="{88B0F2B7-A60A-418D-9C4F-F83AF86693D9}"/>
              </a:ext>
              <a:ext uri="{C183D7F6-B498-43B3-948B-1728B52AA6E4}">
                <adec:decorative xmlns:adec="http://schemas.microsoft.com/office/drawing/2017/decorative" val="1"/>
              </a:ext>
            </a:extLst>
          </p:cNvPr>
          <p:cNvPicPr>
            <a:picLocks noChangeAspect="1"/>
          </p:cNvPicPr>
          <p:nvPr userDrawn="1"/>
        </p:nvPicPr>
        <p:blipFill>
          <a:blip r:embed="rId3" cstate="print">
            <a:alphaModFix amt="40000"/>
            <a:extLst>
              <a:ext uri="{28A0092B-C50C-407E-A947-70E740481C1C}">
                <a14:useLocalDpi xmlns:a14="http://schemas.microsoft.com/office/drawing/2010/main" val="0"/>
              </a:ext>
            </a:extLst>
          </a:blip>
          <a:stretch>
            <a:fillRect/>
          </a:stretch>
        </p:blipFill>
        <p:spPr>
          <a:xfrm>
            <a:off x="10366690" y="6201812"/>
            <a:ext cx="1567342" cy="567807"/>
          </a:xfrm>
          <a:prstGeom prst="rect">
            <a:avLst/>
          </a:prstGeom>
        </p:spPr>
      </p:pic>
    </p:spTree>
    <p:extLst>
      <p:ext uri="{BB962C8B-B14F-4D97-AF65-F5344CB8AC3E}">
        <p14:creationId xmlns:p14="http://schemas.microsoft.com/office/powerpoint/2010/main" val="2043347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ight Image (no logos)">
    <p:bg>
      <p:bgPr>
        <a:solidFill>
          <a:srgbClr val="FFF9EB"/>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D3D77FE-4231-FA1E-ECC5-A251D9DA0AA7}"/>
              </a:ext>
            </a:extLst>
          </p:cNvPr>
          <p:cNvSpPr>
            <a:spLocks noGrp="1"/>
          </p:cNvSpPr>
          <p:nvPr>
            <p:ph type="title" hasCustomPrompt="1"/>
          </p:nvPr>
        </p:nvSpPr>
        <p:spPr/>
        <p:txBody>
          <a:bodyPr/>
          <a:lstStyle/>
          <a:p>
            <a:r>
              <a:rPr lang="en-US" dirty="0"/>
              <a:t>Click to edit title</a:t>
            </a:r>
            <a:endParaRPr lang="en-GB" dirty="0"/>
          </a:p>
        </p:txBody>
      </p:sp>
      <p:sp>
        <p:nvSpPr>
          <p:cNvPr id="12" name="Content Left">
            <a:extLst>
              <a:ext uri="{FF2B5EF4-FFF2-40B4-BE49-F238E27FC236}">
                <a16:creationId xmlns:a16="http://schemas.microsoft.com/office/drawing/2014/main" id="{03FC0104-EACC-4827-B925-E006AA50481A}"/>
              </a:ext>
            </a:extLst>
          </p:cNvPr>
          <p:cNvSpPr>
            <a:spLocks noGrp="1"/>
          </p:cNvSpPr>
          <p:nvPr>
            <p:ph sz="quarter" idx="14" hasCustomPrompt="1"/>
          </p:nvPr>
        </p:nvSpPr>
        <p:spPr>
          <a:xfrm>
            <a:off x="527050" y="1440802"/>
            <a:ext cx="7710863" cy="4950700"/>
          </a:xfrm>
        </p:spPr>
        <p:txBody>
          <a:bodyPr/>
          <a:lstStyle/>
          <a:p>
            <a:pPr lvl="0"/>
            <a:r>
              <a:rPr lang="en-US" dirty="0"/>
              <a:t>Click to add text or media</a:t>
            </a:r>
            <a:endParaRPr lang="en-GB" dirty="0"/>
          </a:p>
        </p:txBody>
      </p:sp>
      <p:sp>
        <p:nvSpPr>
          <p:cNvPr id="13" name="Content Right">
            <a:extLst>
              <a:ext uri="{FF2B5EF4-FFF2-40B4-BE49-F238E27FC236}">
                <a16:creationId xmlns:a16="http://schemas.microsoft.com/office/drawing/2014/main" id="{312F14F0-586F-4EFF-AB0B-502A3D704B51}"/>
              </a:ext>
            </a:extLst>
          </p:cNvPr>
          <p:cNvSpPr>
            <a:spLocks noGrp="1"/>
          </p:cNvSpPr>
          <p:nvPr>
            <p:ph sz="quarter" idx="15" hasCustomPrompt="1"/>
          </p:nvPr>
        </p:nvSpPr>
        <p:spPr>
          <a:xfrm>
            <a:off x="8553796" y="1440800"/>
            <a:ext cx="3111154" cy="4950700"/>
          </a:xfrm>
        </p:spPr>
        <p:txBody>
          <a:bodyPr/>
          <a:lstStyle/>
          <a:p>
            <a:pPr lvl="0"/>
            <a:r>
              <a:rPr lang="en-US" dirty="0"/>
              <a:t>Click to add text or media</a:t>
            </a:r>
            <a:endParaRPr lang="en-GB" dirty="0"/>
          </a:p>
        </p:txBody>
      </p:sp>
    </p:spTree>
    <p:extLst>
      <p:ext uri="{BB962C8B-B14F-4D97-AF65-F5344CB8AC3E}">
        <p14:creationId xmlns:p14="http://schemas.microsoft.com/office/powerpoint/2010/main" val="3094199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no logos)">
    <p:bg>
      <p:bgPr>
        <a:solidFill>
          <a:srgbClr val="FFF9EB"/>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D4E20B5-48B7-40C6-A0E9-8A841032DD79}"/>
              </a:ext>
            </a:extLst>
          </p:cNvPr>
          <p:cNvSpPr>
            <a:spLocks noGrp="1"/>
          </p:cNvSpPr>
          <p:nvPr>
            <p:ph type="title" hasCustomPrompt="1"/>
          </p:nvPr>
        </p:nvSpPr>
        <p:spPr/>
        <p:txBody>
          <a:bodyPr/>
          <a:lstStyle/>
          <a:p>
            <a:r>
              <a:rPr lang="en-US" dirty="0"/>
              <a:t>Click to edit title</a:t>
            </a:r>
            <a:endParaRPr lang="en-GB" dirty="0"/>
          </a:p>
        </p:txBody>
      </p:sp>
      <p:sp>
        <p:nvSpPr>
          <p:cNvPr id="8" name="Content Left">
            <a:extLst>
              <a:ext uri="{FF2B5EF4-FFF2-40B4-BE49-F238E27FC236}">
                <a16:creationId xmlns:a16="http://schemas.microsoft.com/office/drawing/2014/main" id="{BC1B0E81-1E9A-4D18-93C3-37047543039E}"/>
              </a:ext>
            </a:extLst>
          </p:cNvPr>
          <p:cNvSpPr>
            <a:spLocks noGrp="1"/>
          </p:cNvSpPr>
          <p:nvPr>
            <p:ph sz="quarter" idx="15" hasCustomPrompt="1"/>
          </p:nvPr>
        </p:nvSpPr>
        <p:spPr>
          <a:xfrm>
            <a:off x="527050" y="1440802"/>
            <a:ext cx="3107592" cy="4950698"/>
          </a:xfrm>
        </p:spPr>
        <p:txBody>
          <a:bodyPr/>
          <a:lstStyle>
            <a:lvl1pPr>
              <a:defRPr/>
            </a:lvl1pPr>
          </a:lstStyle>
          <a:p>
            <a:pPr lvl="0"/>
            <a:r>
              <a:rPr lang="en-GB" dirty="0"/>
              <a:t>Click add text or media</a:t>
            </a:r>
          </a:p>
        </p:txBody>
      </p:sp>
      <p:sp>
        <p:nvSpPr>
          <p:cNvPr id="12" name="Content Right">
            <a:extLst>
              <a:ext uri="{FF2B5EF4-FFF2-40B4-BE49-F238E27FC236}">
                <a16:creationId xmlns:a16="http://schemas.microsoft.com/office/drawing/2014/main" id="{03FC0104-EACC-4827-B925-E006AA50481A}"/>
              </a:ext>
            </a:extLst>
          </p:cNvPr>
          <p:cNvSpPr>
            <a:spLocks noGrp="1"/>
          </p:cNvSpPr>
          <p:nvPr>
            <p:ph sz="quarter" idx="14" hasCustomPrompt="1"/>
          </p:nvPr>
        </p:nvSpPr>
        <p:spPr>
          <a:xfrm>
            <a:off x="3954087" y="1440802"/>
            <a:ext cx="7710863" cy="4950698"/>
          </a:xfrm>
        </p:spPr>
        <p:txBody>
          <a:bodyPr/>
          <a:lstStyle/>
          <a:p>
            <a:pPr lvl="0"/>
            <a:r>
              <a:rPr lang="en-US" dirty="0"/>
              <a:t>Click to add text or media</a:t>
            </a:r>
            <a:endParaRPr lang="en-GB" dirty="0"/>
          </a:p>
        </p:txBody>
      </p:sp>
    </p:spTree>
    <p:extLst>
      <p:ext uri="{BB962C8B-B14F-4D97-AF65-F5344CB8AC3E}">
        <p14:creationId xmlns:p14="http://schemas.microsoft.com/office/powerpoint/2010/main" val="3565591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plit Content">
    <p:bg>
      <p:bgPr>
        <a:solidFill>
          <a:srgbClr val="FFF9EB"/>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9ACEB3B-51CA-9552-CC41-FBF04FCBED50}"/>
              </a:ext>
            </a:extLst>
          </p:cNvPr>
          <p:cNvSpPr>
            <a:spLocks noGrp="1"/>
          </p:cNvSpPr>
          <p:nvPr>
            <p:ph type="title" hasCustomPrompt="1"/>
          </p:nvPr>
        </p:nvSpPr>
        <p:spPr/>
        <p:txBody>
          <a:bodyPr/>
          <a:lstStyle/>
          <a:p>
            <a:r>
              <a:rPr lang="en-US" dirty="0"/>
              <a:t>Click to edit title</a:t>
            </a:r>
            <a:endParaRPr lang="en-GB" dirty="0"/>
          </a:p>
        </p:txBody>
      </p:sp>
      <p:sp>
        <p:nvSpPr>
          <p:cNvPr id="3" name="Content Left">
            <a:extLst>
              <a:ext uri="{FF2B5EF4-FFF2-40B4-BE49-F238E27FC236}">
                <a16:creationId xmlns:a16="http://schemas.microsoft.com/office/drawing/2014/main" id="{42C31C92-7B54-41EB-ADB7-E7F830987202}"/>
              </a:ext>
            </a:extLst>
          </p:cNvPr>
          <p:cNvSpPr>
            <a:spLocks noGrp="1"/>
          </p:cNvSpPr>
          <p:nvPr>
            <p:ph sz="quarter" idx="12" hasCustomPrompt="1"/>
          </p:nvPr>
        </p:nvSpPr>
        <p:spPr>
          <a:xfrm>
            <a:off x="527381" y="1440802"/>
            <a:ext cx="5365420" cy="4502798"/>
          </a:xfrm>
        </p:spPr>
        <p:txBody>
          <a:bodyPr/>
          <a:lstStyle/>
          <a:p>
            <a:pPr lvl="0"/>
            <a:r>
              <a:rPr lang="en-US" dirty="0"/>
              <a:t>Click to add text or media</a:t>
            </a:r>
            <a:endParaRPr lang="en-GB" dirty="0"/>
          </a:p>
        </p:txBody>
      </p:sp>
      <p:sp>
        <p:nvSpPr>
          <p:cNvPr id="5" name="Content Right">
            <a:extLst>
              <a:ext uri="{FF2B5EF4-FFF2-40B4-BE49-F238E27FC236}">
                <a16:creationId xmlns:a16="http://schemas.microsoft.com/office/drawing/2014/main" id="{E2288F49-3D34-46F0-BD77-BBDFDD485530}"/>
              </a:ext>
            </a:extLst>
          </p:cNvPr>
          <p:cNvSpPr>
            <a:spLocks noGrp="1"/>
          </p:cNvSpPr>
          <p:nvPr>
            <p:ph sz="quarter" idx="13" hasCustomPrompt="1"/>
          </p:nvPr>
        </p:nvSpPr>
        <p:spPr>
          <a:xfrm>
            <a:off x="6295970" y="1440802"/>
            <a:ext cx="5365420" cy="4502798"/>
          </a:xfrm>
        </p:spPr>
        <p:txBody>
          <a:bodyPr/>
          <a:lstStyle/>
          <a:p>
            <a:pPr lvl="0"/>
            <a:r>
              <a:rPr lang="en-US" dirty="0"/>
              <a:t>Click to add text or media</a:t>
            </a:r>
            <a:endParaRPr lang="en-GB" dirty="0"/>
          </a:p>
        </p:txBody>
      </p:sp>
      <p:pic>
        <p:nvPicPr>
          <p:cNvPr id="11" name="Picture 10">
            <a:extLst>
              <a:ext uri="{FF2B5EF4-FFF2-40B4-BE49-F238E27FC236}">
                <a16:creationId xmlns:a16="http://schemas.microsoft.com/office/drawing/2014/main" id="{570330E5-80C3-424C-A452-4D33EF679E40}"/>
              </a:ext>
              <a:ext uri="{C183D7F6-B498-43B3-948B-1728B52AA6E4}">
                <adec:decorative xmlns:adec="http://schemas.microsoft.com/office/drawing/2017/decorative" val="1"/>
              </a:ext>
            </a:extLst>
          </p:cNvPr>
          <p:cNvPicPr>
            <a:picLocks noChangeAspect="1"/>
          </p:cNvPicPr>
          <p:nvPr userDrawn="1"/>
        </p:nvPicPr>
        <p:blipFill>
          <a:blip r:embed="rId2" cstate="print">
            <a:alphaModFix amt="30000"/>
            <a:extLst>
              <a:ext uri="{28A0092B-C50C-407E-A947-70E740481C1C}">
                <a14:useLocalDpi xmlns:a14="http://schemas.microsoft.com/office/drawing/2010/main" val="0"/>
              </a:ext>
            </a:extLst>
          </a:blip>
          <a:stretch>
            <a:fillRect/>
          </a:stretch>
        </p:blipFill>
        <p:spPr>
          <a:xfrm>
            <a:off x="257968" y="6107907"/>
            <a:ext cx="4794040" cy="661712"/>
          </a:xfrm>
          <a:prstGeom prst="rect">
            <a:avLst/>
          </a:prstGeom>
        </p:spPr>
      </p:pic>
      <p:pic>
        <p:nvPicPr>
          <p:cNvPr id="12" name="Picture 11">
            <a:extLst>
              <a:ext uri="{FF2B5EF4-FFF2-40B4-BE49-F238E27FC236}">
                <a16:creationId xmlns:a16="http://schemas.microsoft.com/office/drawing/2014/main" id="{AB7FB293-2C0D-4536-A12C-DA1F57A29821}"/>
              </a:ext>
              <a:ext uri="{C183D7F6-B498-43B3-948B-1728B52AA6E4}">
                <adec:decorative xmlns:adec="http://schemas.microsoft.com/office/drawing/2017/decorative" val="1"/>
              </a:ext>
            </a:extLst>
          </p:cNvPr>
          <p:cNvPicPr>
            <a:picLocks noChangeAspect="1"/>
          </p:cNvPicPr>
          <p:nvPr userDrawn="1"/>
        </p:nvPicPr>
        <p:blipFill>
          <a:blip r:embed="rId3" cstate="print">
            <a:alphaModFix amt="40000"/>
            <a:extLst>
              <a:ext uri="{28A0092B-C50C-407E-A947-70E740481C1C}">
                <a14:useLocalDpi xmlns:a14="http://schemas.microsoft.com/office/drawing/2010/main" val="0"/>
              </a:ext>
            </a:extLst>
          </a:blip>
          <a:stretch>
            <a:fillRect/>
          </a:stretch>
        </p:blipFill>
        <p:spPr>
          <a:xfrm>
            <a:off x="10366690" y="6201812"/>
            <a:ext cx="1567342" cy="567807"/>
          </a:xfrm>
          <a:prstGeom prst="rect">
            <a:avLst/>
          </a:prstGeom>
        </p:spPr>
      </p:pic>
    </p:spTree>
    <p:extLst>
      <p:ext uri="{BB962C8B-B14F-4D97-AF65-F5344CB8AC3E}">
        <p14:creationId xmlns:p14="http://schemas.microsoft.com/office/powerpoint/2010/main" val="4072759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plit Content (no logos)">
    <p:bg>
      <p:bgPr>
        <a:solidFill>
          <a:srgbClr val="FFF9EB"/>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8D606D0-B212-4034-289D-5D9A05C165A9}"/>
              </a:ext>
            </a:extLst>
          </p:cNvPr>
          <p:cNvSpPr>
            <a:spLocks noGrp="1"/>
          </p:cNvSpPr>
          <p:nvPr>
            <p:ph type="title" hasCustomPrompt="1"/>
          </p:nvPr>
        </p:nvSpPr>
        <p:spPr/>
        <p:txBody>
          <a:bodyPr/>
          <a:lstStyle/>
          <a:p>
            <a:r>
              <a:rPr lang="en-US" dirty="0"/>
              <a:t>Click to edit title</a:t>
            </a:r>
            <a:endParaRPr lang="en-GB" dirty="0"/>
          </a:p>
        </p:txBody>
      </p:sp>
      <p:sp>
        <p:nvSpPr>
          <p:cNvPr id="3" name="Content Left">
            <a:extLst>
              <a:ext uri="{FF2B5EF4-FFF2-40B4-BE49-F238E27FC236}">
                <a16:creationId xmlns:a16="http://schemas.microsoft.com/office/drawing/2014/main" id="{42C31C92-7B54-41EB-ADB7-E7F830987202}"/>
              </a:ext>
            </a:extLst>
          </p:cNvPr>
          <p:cNvSpPr>
            <a:spLocks noGrp="1"/>
          </p:cNvSpPr>
          <p:nvPr>
            <p:ph sz="quarter" idx="12" hasCustomPrompt="1"/>
          </p:nvPr>
        </p:nvSpPr>
        <p:spPr>
          <a:xfrm>
            <a:off x="527381" y="1440803"/>
            <a:ext cx="5365420" cy="4940946"/>
          </a:xfrm>
        </p:spPr>
        <p:txBody>
          <a:bodyPr/>
          <a:lstStyle/>
          <a:p>
            <a:pPr lvl="0"/>
            <a:r>
              <a:rPr lang="en-US" dirty="0"/>
              <a:t>Click to add text or media</a:t>
            </a:r>
            <a:endParaRPr lang="en-GB" dirty="0"/>
          </a:p>
        </p:txBody>
      </p:sp>
      <p:sp>
        <p:nvSpPr>
          <p:cNvPr id="5" name="Content Right">
            <a:extLst>
              <a:ext uri="{FF2B5EF4-FFF2-40B4-BE49-F238E27FC236}">
                <a16:creationId xmlns:a16="http://schemas.microsoft.com/office/drawing/2014/main" id="{E2288F49-3D34-46F0-BD77-BBDFDD485530}"/>
              </a:ext>
            </a:extLst>
          </p:cNvPr>
          <p:cNvSpPr>
            <a:spLocks noGrp="1"/>
          </p:cNvSpPr>
          <p:nvPr>
            <p:ph sz="quarter" idx="13" hasCustomPrompt="1"/>
          </p:nvPr>
        </p:nvSpPr>
        <p:spPr>
          <a:xfrm>
            <a:off x="6299201" y="1440803"/>
            <a:ext cx="5365418" cy="4940946"/>
          </a:xfrm>
        </p:spPr>
        <p:txBody>
          <a:bodyPr/>
          <a:lstStyle/>
          <a:p>
            <a:pPr lvl="0"/>
            <a:r>
              <a:rPr lang="en-US" dirty="0"/>
              <a:t>Click to add text or media</a:t>
            </a:r>
            <a:endParaRPr lang="en-GB" dirty="0"/>
          </a:p>
        </p:txBody>
      </p:sp>
    </p:spTree>
    <p:extLst>
      <p:ext uri="{BB962C8B-B14F-4D97-AF65-F5344CB8AC3E}">
        <p14:creationId xmlns:p14="http://schemas.microsoft.com/office/powerpoint/2010/main" val="3699542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Bottom Banner Image">
    <p:bg>
      <p:bgPr>
        <a:solidFill>
          <a:srgbClr val="FFF9EB"/>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B83E65B-AA92-EE94-B8F0-7B3359236B6A}"/>
              </a:ext>
            </a:extLst>
          </p:cNvPr>
          <p:cNvSpPr>
            <a:spLocks noGrp="1"/>
          </p:cNvSpPr>
          <p:nvPr>
            <p:ph type="title" hasCustomPrompt="1"/>
          </p:nvPr>
        </p:nvSpPr>
        <p:spPr/>
        <p:txBody>
          <a:bodyPr/>
          <a:lstStyle/>
          <a:p>
            <a:r>
              <a:rPr lang="en-US" dirty="0"/>
              <a:t>Click to edit title</a:t>
            </a:r>
            <a:endParaRPr lang="en-GB" dirty="0"/>
          </a:p>
        </p:txBody>
      </p:sp>
      <p:sp>
        <p:nvSpPr>
          <p:cNvPr id="3" name="Content Top">
            <a:extLst>
              <a:ext uri="{FF2B5EF4-FFF2-40B4-BE49-F238E27FC236}">
                <a16:creationId xmlns:a16="http://schemas.microsoft.com/office/drawing/2014/main" id="{4202A20E-5C4E-465E-A18F-1E410993B4C5}"/>
              </a:ext>
            </a:extLst>
          </p:cNvPr>
          <p:cNvSpPr>
            <a:spLocks noGrp="1"/>
          </p:cNvSpPr>
          <p:nvPr>
            <p:ph sz="quarter" idx="12" hasCustomPrompt="1"/>
          </p:nvPr>
        </p:nvSpPr>
        <p:spPr>
          <a:xfrm>
            <a:off x="527380" y="1440803"/>
            <a:ext cx="11134009" cy="2876404"/>
          </a:xfrm>
        </p:spPr>
        <p:txBody>
          <a:bodyPr/>
          <a:lstStyle/>
          <a:p>
            <a:pPr lvl="0"/>
            <a:r>
              <a:rPr lang="en-US" dirty="0"/>
              <a:t>Click to add text or media</a:t>
            </a:r>
            <a:endParaRPr lang="en-GB" dirty="0"/>
          </a:p>
        </p:txBody>
      </p:sp>
      <p:sp>
        <p:nvSpPr>
          <p:cNvPr id="12" name="Content Bottom">
            <a:extLst>
              <a:ext uri="{FF2B5EF4-FFF2-40B4-BE49-F238E27FC236}">
                <a16:creationId xmlns:a16="http://schemas.microsoft.com/office/drawing/2014/main" id="{4A680EA3-97A0-463C-AE95-22019B54D39D}"/>
              </a:ext>
            </a:extLst>
          </p:cNvPr>
          <p:cNvSpPr>
            <a:spLocks noGrp="1"/>
          </p:cNvSpPr>
          <p:nvPr>
            <p:ph sz="quarter" idx="13" hasCustomPrompt="1"/>
          </p:nvPr>
        </p:nvSpPr>
        <p:spPr>
          <a:xfrm>
            <a:off x="527050" y="4492625"/>
            <a:ext cx="11134009" cy="1443718"/>
          </a:xfrm>
        </p:spPr>
        <p:txBody>
          <a:bodyPr/>
          <a:lstStyle>
            <a:lvl1pPr>
              <a:defRPr/>
            </a:lvl1pPr>
          </a:lstStyle>
          <a:p>
            <a:pPr lvl="0"/>
            <a:r>
              <a:rPr lang="en-US" dirty="0"/>
              <a:t>Click to add text or media</a:t>
            </a:r>
            <a:endParaRPr lang="en-GB" dirty="0"/>
          </a:p>
        </p:txBody>
      </p:sp>
      <p:pic>
        <p:nvPicPr>
          <p:cNvPr id="8" name="Picture 7">
            <a:extLst>
              <a:ext uri="{FF2B5EF4-FFF2-40B4-BE49-F238E27FC236}">
                <a16:creationId xmlns:a16="http://schemas.microsoft.com/office/drawing/2014/main" id="{DD2D53AC-6ABA-45DB-B2AB-258CA49B3CA9}"/>
              </a:ext>
              <a:ext uri="{C183D7F6-B498-43B3-948B-1728B52AA6E4}">
                <adec:decorative xmlns:adec="http://schemas.microsoft.com/office/drawing/2017/decorative" val="1"/>
              </a:ext>
            </a:extLst>
          </p:cNvPr>
          <p:cNvPicPr>
            <a:picLocks noChangeAspect="1"/>
          </p:cNvPicPr>
          <p:nvPr userDrawn="1"/>
        </p:nvPicPr>
        <p:blipFill>
          <a:blip r:embed="rId2" cstate="print">
            <a:alphaModFix amt="30000"/>
            <a:extLst>
              <a:ext uri="{28A0092B-C50C-407E-A947-70E740481C1C}">
                <a14:useLocalDpi xmlns:a14="http://schemas.microsoft.com/office/drawing/2010/main" val="0"/>
              </a:ext>
            </a:extLst>
          </a:blip>
          <a:stretch>
            <a:fillRect/>
          </a:stretch>
        </p:blipFill>
        <p:spPr>
          <a:xfrm>
            <a:off x="257968" y="6107907"/>
            <a:ext cx="4794040" cy="661712"/>
          </a:xfrm>
          <a:prstGeom prst="rect">
            <a:avLst/>
          </a:prstGeom>
        </p:spPr>
      </p:pic>
      <p:pic>
        <p:nvPicPr>
          <p:cNvPr id="9" name="Picture 8">
            <a:extLst>
              <a:ext uri="{FF2B5EF4-FFF2-40B4-BE49-F238E27FC236}">
                <a16:creationId xmlns:a16="http://schemas.microsoft.com/office/drawing/2014/main" id="{0DF7392E-A617-47A0-8E6A-9C0ED40BE1A3}"/>
              </a:ext>
              <a:ext uri="{C183D7F6-B498-43B3-948B-1728B52AA6E4}">
                <adec:decorative xmlns:adec="http://schemas.microsoft.com/office/drawing/2017/decorative" val="1"/>
              </a:ext>
            </a:extLst>
          </p:cNvPr>
          <p:cNvPicPr>
            <a:picLocks noChangeAspect="1"/>
          </p:cNvPicPr>
          <p:nvPr userDrawn="1"/>
        </p:nvPicPr>
        <p:blipFill>
          <a:blip r:embed="rId3" cstate="print">
            <a:alphaModFix amt="40000"/>
            <a:extLst>
              <a:ext uri="{28A0092B-C50C-407E-A947-70E740481C1C}">
                <a14:useLocalDpi xmlns:a14="http://schemas.microsoft.com/office/drawing/2010/main" val="0"/>
              </a:ext>
            </a:extLst>
          </a:blip>
          <a:stretch>
            <a:fillRect/>
          </a:stretch>
        </p:blipFill>
        <p:spPr>
          <a:xfrm>
            <a:off x="10366690" y="6201812"/>
            <a:ext cx="1567342" cy="567807"/>
          </a:xfrm>
          <a:prstGeom prst="rect">
            <a:avLst/>
          </a:prstGeom>
        </p:spPr>
      </p:pic>
    </p:spTree>
    <p:extLst>
      <p:ext uri="{BB962C8B-B14F-4D97-AF65-F5344CB8AC3E}">
        <p14:creationId xmlns:p14="http://schemas.microsoft.com/office/powerpoint/2010/main" val="802751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Slide With Title">
    <p:bg>
      <p:bgPr>
        <a:solidFill>
          <a:srgbClr val="FFF9EB"/>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7187292-4B33-48F9-EA8A-8911C526681D}"/>
              </a:ext>
            </a:extLst>
          </p:cNvPr>
          <p:cNvSpPr>
            <a:spLocks noGrp="1"/>
          </p:cNvSpPr>
          <p:nvPr>
            <p:ph type="title" hasCustomPrompt="1"/>
          </p:nvPr>
        </p:nvSpPr>
        <p:spPr/>
        <p:txBody>
          <a:bodyPr/>
          <a:lstStyle/>
          <a:p>
            <a:r>
              <a:rPr lang="en-US" dirty="0"/>
              <a:t>Click to edit title</a:t>
            </a:r>
            <a:endParaRPr lang="en-GB" dirty="0"/>
          </a:p>
        </p:txBody>
      </p:sp>
      <p:pic>
        <p:nvPicPr>
          <p:cNvPr id="5" name="Picture 4">
            <a:extLst>
              <a:ext uri="{FF2B5EF4-FFF2-40B4-BE49-F238E27FC236}">
                <a16:creationId xmlns:a16="http://schemas.microsoft.com/office/drawing/2014/main" id="{6C613A7B-C80F-4E12-938C-44A6BE1D65C4}"/>
              </a:ext>
              <a:ext uri="{C183D7F6-B498-43B3-948B-1728B52AA6E4}">
                <adec:decorative xmlns:adec="http://schemas.microsoft.com/office/drawing/2017/decorative" val="1"/>
              </a:ext>
            </a:extLst>
          </p:cNvPr>
          <p:cNvPicPr>
            <a:picLocks noChangeAspect="1"/>
          </p:cNvPicPr>
          <p:nvPr userDrawn="1"/>
        </p:nvPicPr>
        <p:blipFill>
          <a:blip r:embed="rId2" cstate="print">
            <a:alphaModFix amt="30000"/>
            <a:extLst>
              <a:ext uri="{28A0092B-C50C-407E-A947-70E740481C1C}">
                <a14:useLocalDpi xmlns:a14="http://schemas.microsoft.com/office/drawing/2010/main" val="0"/>
              </a:ext>
            </a:extLst>
          </a:blip>
          <a:stretch>
            <a:fillRect/>
          </a:stretch>
        </p:blipFill>
        <p:spPr>
          <a:xfrm>
            <a:off x="257968" y="6107907"/>
            <a:ext cx="4794040" cy="661712"/>
          </a:xfrm>
          <a:prstGeom prst="rect">
            <a:avLst/>
          </a:prstGeom>
        </p:spPr>
      </p:pic>
      <p:pic>
        <p:nvPicPr>
          <p:cNvPr id="7" name="Picture 6">
            <a:extLst>
              <a:ext uri="{FF2B5EF4-FFF2-40B4-BE49-F238E27FC236}">
                <a16:creationId xmlns:a16="http://schemas.microsoft.com/office/drawing/2014/main" id="{DD086CCF-FB2E-490F-ACEC-23FDDD9BA706}"/>
              </a:ext>
              <a:ext uri="{C183D7F6-B498-43B3-948B-1728B52AA6E4}">
                <adec:decorative xmlns:adec="http://schemas.microsoft.com/office/drawing/2017/decorative" val="1"/>
              </a:ext>
            </a:extLst>
          </p:cNvPr>
          <p:cNvPicPr>
            <a:picLocks noChangeAspect="1"/>
          </p:cNvPicPr>
          <p:nvPr userDrawn="1"/>
        </p:nvPicPr>
        <p:blipFill>
          <a:blip r:embed="rId3" cstate="print">
            <a:alphaModFix amt="40000"/>
            <a:extLst>
              <a:ext uri="{28A0092B-C50C-407E-A947-70E740481C1C}">
                <a14:useLocalDpi xmlns:a14="http://schemas.microsoft.com/office/drawing/2010/main" val="0"/>
              </a:ext>
            </a:extLst>
          </a:blip>
          <a:stretch>
            <a:fillRect/>
          </a:stretch>
        </p:blipFill>
        <p:spPr>
          <a:xfrm>
            <a:off x="10366690" y="6201812"/>
            <a:ext cx="1567342" cy="567807"/>
          </a:xfrm>
          <a:prstGeom prst="rect">
            <a:avLst/>
          </a:prstGeom>
        </p:spPr>
      </p:pic>
    </p:spTree>
    <p:extLst>
      <p:ext uri="{BB962C8B-B14F-4D97-AF65-F5344CB8AC3E}">
        <p14:creationId xmlns:p14="http://schemas.microsoft.com/office/powerpoint/2010/main" val="38462455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Slide With Title (no logos)">
    <p:bg>
      <p:bgPr>
        <a:solidFill>
          <a:srgbClr val="FFF9EB"/>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1C3CF60-3F4A-3500-B896-36F86ED83098}"/>
              </a:ext>
            </a:extLst>
          </p:cNvPr>
          <p:cNvSpPr>
            <a:spLocks noGrp="1"/>
          </p:cNvSpPr>
          <p:nvPr>
            <p:ph type="title" hasCustomPrompt="1"/>
          </p:nvPr>
        </p:nvSpPr>
        <p:spPr/>
        <p:txBody>
          <a:bodyPr/>
          <a:lstStyle/>
          <a:p>
            <a:r>
              <a:rPr lang="en-US" dirty="0"/>
              <a:t>Click to edit title</a:t>
            </a:r>
            <a:endParaRPr lang="en-GB"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Slide Title Hidden (no logos)">
    <p:bg>
      <p:bgPr>
        <a:solidFill>
          <a:srgbClr val="FFF9EB"/>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41B7E94-ECB2-2964-DFC4-4861D292B612}"/>
              </a:ext>
            </a:extLst>
          </p:cNvPr>
          <p:cNvSpPr>
            <a:spLocks noGrp="1"/>
          </p:cNvSpPr>
          <p:nvPr>
            <p:ph type="title" hasCustomPrompt="1"/>
          </p:nvPr>
        </p:nvSpPr>
        <p:spPr>
          <a:xfrm>
            <a:off x="527050" y="-968809"/>
            <a:ext cx="11137900" cy="769441"/>
          </a:xfrm>
        </p:spPr>
        <p:txBody>
          <a:bodyPr/>
          <a:lstStyle>
            <a:lvl1pPr>
              <a:defRPr/>
            </a:lvl1pPr>
          </a:lstStyle>
          <a:p>
            <a:r>
              <a:rPr lang="en-US" dirty="0"/>
              <a:t>Add title (important for accessibility)</a:t>
            </a:r>
            <a:endParaRPr lang="en-GB" dirty="0"/>
          </a:p>
        </p:txBody>
      </p:sp>
    </p:spTree>
    <p:extLst>
      <p:ext uri="{BB962C8B-B14F-4D97-AF65-F5344CB8AC3E}">
        <p14:creationId xmlns:p14="http://schemas.microsoft.com/office/powerpoint/2010/main" val="5597863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Side Caption">
    <p:bg>
      <p:bgPr>
        <a:solidFill>
          <a:srgbClr val="FFF9EB"/>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98DE29EE-3CEE-FB55-8732-BEA0A4C9FE7B}"/>
              </a:ext>
            </a:extLst>
          </p:cNvPr>
          <p:cNvSpPr>
            <a:spLocks noGrp="1"/>
          </p:cNvSpPr>
          <p:nvPr>
            <p:ph type="title" hasCustomPrompt="1"/>
          </p:nvPr>
        </p:nvSpPr>
        <p:spPr>
          <a:xfrm>
            <a:off x="527050" y="272807"/>
            <a:ext cx="4092013" cy="1441811"/>
          </a:xfrm>
        </p:spPr>
        <p:txBody>
          <a:bodyPr/>
          <a:lstStyle/>
          <a:p>
            <a:r>
              <a:rPr lang="en-US" dirty="0"/>
              <a:t>Click to edit title</a:t>
            </a:r>
            <a:endParaRPr lang="en-GB" dirty="0"/>
          </a:p>
        </p:txBody>
      </p:sp>
      <p:sp>
        <p:nvSpPr>
          <p:cNvPr id="11" name="Content Left">
            <a:extLst>
              <a:ext uri="{FF2B5EF4-FFF2-40B4-BE49-F238E27FC236}">
                <a16:creationId xmlns:a16="http://schemas.microsoft.com/office/drawing/2014/main" id="{B7283B8F-3613-48A6-B661-57C013F1F89E}"/>
              </a:ext>
            </a:extLst>
          </p:cNvPr>
          <p:cNvSpPr>
            <a:spLocks noGrp="1"/>
          </p:cNvSpPr>
          <p:nvPr>
            <p:ph sz="quarter" idx="11" hasCustomPrompt="1"/>
          </p:nvPr>
        </p:nvSpPr>
        <p:spPr>
          <a:xfrm>
            <a:off x="527050" y="1837189"/>
            <a:ext cx="4094163" cy="4084640"/>
          </a:xfrm>
        </p:spPr>
        <p:txBody>
          <a:bodyPr/>
          <a:lstStyle>
            <a:lvl1pPr>
              <a:defRPr/>
            </a:lvl1pPr>
          </a:lstStyle>
          <a:p>
            <a:pPr lvl="0"/>
            <a:r>
              <a:rPr lang="en-US" dirty="0"/>
              <a:t>Click to add text or media</a:t>
            </a:r>
            <a:endParaRPr lang="en-GB" dirty="0"/>
          </a:p>
        </p:txBody>
      </p:sp>
      <p:sp>
        <p:nvSpPr>
          <p:cNvPr id="9" name="Content Right">
            <a:extLst>
              <a:ext uri="{FF2B5EF4-FFF2-40B4-BE49-F238E27FC236}">
                <a16:creationId xmlns:a16="http://schemas.microsoft.com/office/drawing/2014/main" id="{60D0F050-4FB5-4DA9-BA9B-8240B9231B9A}"/>
              </a:ext>
            </a:extLst>
          </p:cNvPr>
          <p:cNvSpPr>
            <a:spLocks noGrp="1"/>
          </p:cNvSpPr>
          <p:nvPr>
            <p:ph sz="quarter" idx="10" hasCustomPrompt="1"/>
          </p:nvPr>
        </p:nvSpPr>
        <p:spPr>
          <a:xfrm>
            <a:off x="4766309" y="272806"/>
            <a:ext cx="6895080" cy="5649023"/>
          </a:xfrm>
        </p:spPr>
        <p:txBody>
          <a:bodyPr/>
          <a:lstStyle/>
          <a:p>
            <a:pPr lvl="0"/>
            <a:r>
              <a:rPr lang="en-US" dirty="0"/>
              <a:t>Click to add text or media</a:t>
            </a:r>
            <a:endParaRPr lang="en-GB" dirty="0"/>
          </a:p>
        </p:txBody>
      </p:sp>
      <p:pic>
        <p:nvPicPr>
          <p:cNvPr id="8" name="Picture 7">
            <a:extLst>
              <a:ext uri="{FF2B5EF4-FFF2-40B4-BE49-F238E27FC236}">
                <a16:creationId xmlns:a16="http://schemas.microsoft.com/office/drawing/2014/main" id="{5C2A0335-30F0-400C-AB2F-569CB76DE787}"/>
              </a:ext>
              <a:ext uri="{C183D7F6-B498-43B3-948B-1728B52AA6E4}">
                <adec:decorative xmlns:adec="http://schemas.microsoft.com/office/drawing/2017/decorative" val="1"/>
              </a:ext>
            </a:extLst>
          </p:cNvPr>
          <p:cNvPicPr>
            <a:picLocks noChangeAspect="1"/>
          </p:cNvPicPr>
          <p:nvPr userDrawn="1"/>
        </p:nvPicPr>
        <p:blipFill>
          <a:blip r:embed="rId2" cstate="print">
            <a:alphaModFix amt="30000"/>
            <a:extLst>
              <a:ext uri="{28A0092B-C50C-407E-A947-70E740481C1C}">
                <a14:useLocalDpi xmlns:a14="http://schemas.microsoft.com/office/drawing/2010/main" val="0"/>
              </a:ext>
            </a:extLst>
          </a:blip>
          <a:stretch>
            <a:fillRect/>
          </a:stretch>
        </p:blipFill>
        <p:spPr>
          <a:xfrm>
            <a:off x="257968" y="6107907"/>
            <a:ext cx="4794040" cy="661712"/>
          </a:xfrm>
          <a:prstGeom prst="rect">
            <a:avLst/>
          </a:prstGeom>
        </p:spPr>
      </p:pic>
      <p:pic>
        <p:nvPicPr>
          <p:cNvPr id="10" name="Picture 9">
            <a:extLst>
              <a:ext uri="{FF2B5EF4-FFF2-40B4-BE49-F238E27FC236}">
                <a16:creationId xmlns:a16="http://schemas.microsoft.com/office/drawing/2014/main" id="{815BA58F-EC0E-4919-9735-BC90BEED5501}"/>
              </a:ext>
              <a:ext uri="{C183D7F6-B498-43B3-948B-1728B52AA6E4}">
                <adec:decorative xmlns:adec="http://schemas.microsoft.com/office/drawing/2017/decorative" val="1"/>
              </a:ext>
            </a:extLst>
          </p:cNvPr>
          <p:cNvPicPr>
            <a:picLocks noChangeAspect="1"/>
          </p:cNvPicPr>
          <p:nvPr userDrawn="1"/>
        </p:nvPicPr>
        <p:blipFill>
          <a:blip r:embed="rId3" cstate="print">
            <a:alphaModFix amt="40000"/>
            <a:extLst>
              <a:ext uri="{28A0092B-C50C-407E-A947-70E740481C1C}">
                <a14:useLocalDpi xmlns:a14="http://schemas.microsoft.com/office/drawing/2010/main" val="0"/>
              </a:ext>
            </a:extLst>
          </a:blip>
          <a:stretch>
            <a:fillRect/>
          </a:stretch>
        </p:blipFill>
        <p:spPr>
          <a:xfrm>
            <a:off x="10366690" y="6201812"/>
            <a:ext cx="1567342" cy="567807"/>
          </a:xfrm>
          <a:prstGeom prst="rect">
            <a:avLst/>
          </a:prstGeom>
        </p:spPr>
      </p:pic>
    </p:spTree>
    <p:extLst>
      <p:ext uri="{BB962C8B-B14F-4D97-AF65-F5344CB8AC3E}">
        <p14:creationId xmlns:p14="http://schemas.microsoft.com/office/powerpoint/2010/main" val="21258882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Side Caption (no logos)">
    <p:bg>
      <p:bgPr>
        <a:solidFill>
          <a:srgbClr val="FFF9EB"/>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5FCFAD7-EB00-CF1B-F9ED-FF3861B3087D}"/>
              </a:ext>
            </a:extLst>
          </p:cNvPr>
          <p:cNvSpPr>
            <a:spLocks noGrp="1"/>
          </p:cNvSpPr>
          <p:nvPr>
            <p:ph type="title" hasCustomPrompt="1"/>
          </p:nvPr>
        </p:nvSpPr>
        <p:spPr>
          <a:xfrm>
            <a:off x="527050" y="272808"/>
            <a:ext cx="4092013" cy="1441810"/>
          </a:xfrm>
        </p:spPr>
        <p:txBody>
          <a:bodyPr/>
          <a:lstStyle/>
          <a:p>
            <a:r>
              <a:rPr lang="en-US" dirty="0"/>
              <a:t>Click to edit title</a:t>
            </a:r>
            <a:endParaRPr lang="en-GB" dirty="0"/>
          </a:p>
        </p:txBody>
      </p:sp>
      <p:sp>
        <p:nvSpPr>
          <p:cNvPr id="11" name="Content Left">
            <a:extLst>
              <a:ext uri="{FF2B5EF4-FFF2-40B4-BE49-F238E27FC236}">
                <a16:creationId xmlns:a16="http://schemas.microsoft.com/office/drawing/2014/main" id="{B7283B8F-3613-48A6-B661-57C013F1F89E}"/>
              </a:ext>
            </a:extLst>
          </p:cNvPr>
          <p:cNvSpPr>
            <a:spLocks noGrp="1"/>
          </p:cNvSpPr>
          <p:nvPr>
            <p:ph sz="quarter" idx="11" hasCustomPrompt="1"/>
          </p:nvPr>
        </p:nvSpPr>
        <p:spPr>
          <a:xfrm>
            <a:off x="527050" y="1837189"/>
            <a:ext cx="4094163" cy="4748002"/>
          </a:xfrm>
        </p:spPr>
        <p:txBody>
          <a:bodyPr/>
          <a:lstStyle>
            <a:lvl1pPr>
              <a:defRPr/>
            </a:lvl1pPr>
          </a:lstStyle>
          <a:p>
            <a:pPr lvl="0"/>
            <a:r>
              <a:rPr lang="en-US" dirty="0"/>
              <a:t>Click to add text or media</a:t>
            </a:r>
            <a:endParaRPr lang="en-GB" dirty="0"/>
          </a:p>
        </p:txBody>
      </p:sp>
      <p:sp>
        <p:nvSpPr>
          <p:cNvPr id="9" name="Content Right">
            <a:extLst>
              <a:ext uri="{FF2B5EF4-FFF2-40B4-BE49-F238E27FC236}">
                <a16:creationId xmlns:a16="http://schemas.microsoft.com/office/drawing/2014/main" id="{60D0F050-4FB5-4DA9-BA9B-8240B9231B9A}"/>
              </a:ext>
            </a:extLst>
          </p:cNvPr>
          <p:cNvSpPr>
            <a:spLocks noGrp="1"/>
          </p:cNvSpPr>
          <p:nvPr>
            <p:ph sz="quarter" idx="10" hasCustomPrompt="1"/>
          </p:nvPr>
        </p:nvSpPr>
        <p:spPr>
          <a:xfrm>
            <a:off x="4766309" y="272806"/>
            <a:ext cx="6895080" cy="6312385"/>
          </a:xfrm>
        </p:spPr>
        <p:txBody>
          <a:bodyPr/>
          <a:lstStyle/>
          <a:p>
            <a:pPr lvl="0"/>
            <a:r>
              <a:rPr lang="en-US" dirty="0"/>
              <a:t>Click to add text or media</a:t>
            </a:r>
            <a:endParaRPr lang="en-GB" dirty="0"/>
          </a:p>
        </p:txBody>
      </p:sp>
    </p:spTree>
    <p:extLst>
      <p:ext uri="{BB962C8B-B14F-4D97-AF65-F5344CB8AC3E}">
        <p14:creationId xmlns:p14="http://schemas.microsoft.com/office/powerpoint/2010/main" val="6945696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edia With Caption">
    <p:bg>
      <p:bgPr>
        <a:solidFill>
          <a:srgbClr val="FFF9EB"/>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439C68D-9809-7F9E-87CE-ED136E182BA5}"/>
              </a:ext>
            </a:extLst>
          </p:cNvPr>
          <p:cNvSpPr>
            <a:spLocks noGrp="1"/>
          </p:cNvSpPr>
          <p:nvPr>
            <p:ph type="title" hasCustomPrompt="1"/>
          </p:nvPr>
        </p:nvSpPr>
        <p:spPr/>
        <p:txBody>
          <a:bodyPr/>
          <a:lstStyle/>
          <a:p>
            <a:r>
              <a:rPr lang="en-US" dirty="0"/>
              <a:t>Click to edit title</a:t>
            </a:r>
            <a:endParaRPr lang="en-GB" dirty="0"/>
          </a:p>
        </p:txBody>
      </p:sp>
      <p:sp>
        <p:nvSpPr>
          <p:cNvPr id="11" name="Content Top">
            <a:extLst>
              <a:ext uri="{FF2B5EF4-FFF2-40B4-BE49-F238E27FC236}">
                <a16:creationId xmlns:a16="http://schemas.microsoft.com/office/drawing/2014/main" id="{99550AC9-E4BA-40DF-8405-C28667601DEF}"/>
              </a:ext>
            </a:extLst>
          </p:cNvPr>
          <p:cNvSpPr>
            <a:spLocks noGrp="1"/>
          </p:cNvSpPr>
          <p:nvPr>
            <p:ph sz="quarter" idx="11" hasCustomPrompt="1"/>
          </p:nvPr>
        </p:nvSpPr>
        <p:spPr>
          <a:xfrm>
            <a:off x="2389823" y="1256795"/>
            <a:ext cx="7315200" cy="4309264"/>
          </a:xfrm>
        </p:spPr>
        <p:txBody>
          <a:bodyPr/>
          <a:lstStyle/>
          <a:p>
            <a:pPr lvl="0"/>
            <a:r>
              <a:rPr lang="en-US" dirty="0"/>
              <a:t>Click to add media</a:t>
            </a:r>
            <a:endParaRPr lang="en-GB" dirty="0"/>
          </a:p>
        </p:txBody>
      </p:sp>
      <p:sp>
        <p:nvSpPr>
          <p:cNvPr id="6" name="Content Bottom">
            <a:extLst>
              <a:ext uri="{FF2B5EF4-FFF2-40B4-BE49-F238E27FC236}">
                <a16:creationId xmlns:a16="http://schemas.microsoft.com/office/drawing/2014/main" id="{579DB875-D845-4472-9FCF-D12FB953CCE4}"/>
              </a:ext>
            </a:extLst>
          </p:cNvPr>
          <p:cNvSpPr>
            <a:spLocks noGrp="1"/>
          </p:cNvSpPr>
          <p:nvPr>
            <p:ph type="body" sz="quarter" idx="10" hasCustomPrompt="1"/>
          </p:nvPr>
        </p:nvSpPr>
        <p:spPr>
          <a:xfrm>
            <a:off x="2389823" y="5566059"/>
            <a:ext cx="7315200" cy="585279"/>
          </a:xfrm>
        </p:spPr>
        <p:txBody>
          <a:bodyPr>
            <a:normAutofit/>
          </a:bodyPr>
          <a:lstStyle>
            <a:lvl1pPr marL="0" indent="0">
              <a:buNone/>
              <a:defRPr sz="2400"/>
            </a:lvl1pPr>
          </a:lstStyle>
          <a:p>
            <a:pPr lvl="0"/>
            <a:r>
              <a:rPr lang="en-US" dirty="0"/>
              <a:t>Click to add media caption</a:t>
            </a:r>
            <a:endParaRPr lang="en-GB" dirty="0"/>
          </a:p>
        </p:txBody>
      </p:sp>
      <p:pic>
        <p:nvPicPr>
          <p:cNvPr id="8" name="Picture 7">
            <a:extLst>
              <a:ext uri="{FF2B5EF4-FFF2-40B4-BE49-F238E27FC236}">
                <a16:creationId xmlns:a16="http://schemas.microsoft.com/office/drawing/2014/main" id="{B7D96EED-0C59-469C-82A7-11D467B7D844}"/>
              </a:ext>
              <a:ext uri="{C183D7F6-B498-43B3-948B-1728B52AA6E4}">
                <adec:decorative xmlns:adec="http://schemas.microsoft.com/office/drawing/2017/decorative" val="1"/>
              </a:ext>
            </a:extLst>
          </p:cNvPr>
          <p:cNvPicPr>
            <a:picLocks noChangeAspect="1"/>
          </p:cNvPicPr>
          <p:nvPr userDrawn="1"/>
        </p:nvPicPr>
        <p:blipFill>
          <a:blip r:embed="rId2" cstate="print">
            <a:alphaModFix amt="30000"/>
            <a:extLst>
              <a:ext uri="{28A0092B-C50C-407E-A947-70E740481C1C}">
                <a14:useLocalDpi xmlns:a14="http://schemas.microsoft.com/office/drawing/2010/main" val="0"/>
              </a:ext>
            </a:extLst>
          </a:blip>
          <a:stretch>
            <a:fillRect/>
          </a:stretch>
        </p:blipFill>
        <p:spPr>
          <a:xfrm>
            <a:off x="257968" y="6107907"/>
            <a:ext cx="4794040" cy="661712"/>
          </a:xfrm>
          <a:prstGeom prst="rect">
            <a:avLst/>
          </a:prstGeom>
        </p:spPr>
      </p:pic>
      <p:pic>
        <p:nvPicPr>
          <p:cNvPr id="9" name="Picture 8">
            <a:extLst>
              <a:ext uri="{FF2B5EF4-FFF2-40B4-BE49-F238E27FC236}">
                <a16:creationId xmlns:a16="http://schemas.microsoft.com/office/drawing/2014/main" id="{5A527225-4A4B-408B-8318-95EFEB17254E}"/>
              </a:ext>
              <a:ext uri="{C183D7F6-B498-43B3-948B-1728B52AA6E4}">
                <adec:decorative xmlns:adec="http://schemas.microsoft.com/office/drawing/2017/decorative" val="1"/>
              </a:ext>
            </a:extLst>
          </p:cNvPr>
          <p:cNvPicPr>
            <a:picLocks noChangeAspect="1"/>
          </p:cNvPicPr>
          <p:nvPr userDrawn="1"/>
        </p:nvPicPr>
        <p:blipFill>
          <a:blip r:embed="rId3" cstate="print">
            <a:alphaModFix amt="40000"/>
            <a:extLst>
              <a:ext uri="{28A0092B-C50C-407E-A947-70E740481C1C}">
                <a14:useLocalDpi xmlns:a14="http://schemas.microsoft.com/office/drawing/2010/main" val="0"/>
              </a:ext>
            </a:extLst>
          </a:blip>
          <a:stretch>
            <a:fillRect/>
          </a:stretch>
        </p:blipFill>
        <p:spPr>
          <a:xfrm>
            <a:off x="10366690" y="6201812"/>
            <a:ext cx="1567342" cy="567807"/>
          </a:xfrm>
          <a:prstGeom prst="rect">
            <a:avLst/>
          </a:prstGeom>
        </p:spPr>
      </p:pic>
    </p:spTree>
    <p:extLst>
      <p:ext uri="{BB962C8B-B14F-4D97-AF65-F5344CB8AC3E}">
        <p14:creationId xmlns:p14="http://schemas.microsoft.com/office/powerpoint/2010/main" val="27220603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2 - (OnCampus) Main Content Slide">
    <p:spTree>
      <p:nvGrpSpPr>
        <p:cNvPr id="1" name=""/>
        <p:cNvGrpSpPr/>
        <p:nvPr/>
      </p:nvGrpSpPr>
      <p:grpSpPr>
        <a:xfrm>
          <a:off x="0" y="0"/>
          <a:ext cx="0" cy="0"/>
          <a:chOff x="0" y="0"/>
          <a:chExt cx="0" cy="0"/>
        </a:xfrm>
      </p:grpSpPr>
      <p:sp>
        <p:nvSpPr>
          <p:cNvPr id="8" name="Title 1"/>
          <p:cNvSpPr>
            <a:spLocks noGrp="1"/>
          </p:cNvSpPr>
          <p:nvPr>
            <p:ph type="ctrTitle" hasCustomPrompt="1"/>
          </p:nvPr>
        </p:nvSpPr>
        <p:spPr>
          <a:xfrm>
            <a:off x="527381" y="130162"/>
            <a:ext cx="11456072" cy="648072"/>
          </a:xfrm>
          <a:prstGeom prst="rect">
            <a:avLst/>
          </a:prstGeom>
        </p:spPr>
        <p:txBody>
          <a:bodyPr>
            <a:normAutofit/>
          </a:bodyPr>
          <a:lstStyle>
            <a:lvl1pPr algn="l">
              <a:defRPr sz="3600" b="1" baseline="0">
                <a:solidFill>
                  <a:schemeClr val="tx1"/>
                </a:solidFill>
                <a:latin typeface="Arial" panose="020B0604020202020204" pitchFamily="34" charset="0"/>
                <a:ea typeface="Adobe Fan Heiti Std B" pitchFamily="34" charset="-128"/>
                <a:cs typeface="Arial" panose="020B0604020202020204" pitchFamily="34" charset="0"/>
              </a:defRPr>
            </a:lvl1pPr>
          </a:lstStyle>
          <a:p>
            <a:r>
              <a:rPr lang="en-US" dirty="0"/>
              <a:t>Click to edit slide title</a:t>
            </a:r>
            <a:endParaRPr lang="en-GB" dirty="0"/>
          </a:p>
        </p:txBody>
      </p:sp>
      <p:sp>
        <p:nvSpPr>
          <p:cNvPr id="6" name="Content Placeholder 2"/>
          <p:cNvSpPr>
            <a:spLocks noGrp="1"/>
          </p:cNvSpPr>
          <p:nvPr>
            <p:ph sz="half" idx="10" hasCustomPrompt="1"/>
          </p:nvPr>
        </p:nvSpPr>
        <p:spPr>
          <a:xfrm>
            <a:off x="508000" y="1078029"/>
            <a:ext cx="11476156" cy="4865571"/>
          </a:xfrm>
          <a:prstGeom prst="rect">
            <a:avLst/>
          </a:prstGeom>
        </p:spPr>
        <p:txBody>
          <a:bodyPr/>
          <a:lstStyle>
            <a:lvl1pPr>
              <a:defRPr sz="3200">
                <a:solidFill>
                  <a:srgbClr val="535353"/>
                </a:solidFill>
                <a:latin typeface="Arial" panose="020B0604020202020204" pitchFamily="34" charset="0"/>
                <a:cs typeface="Arial" panose="020B0604020202020204" pitchFamily="34" charset="0"/>
              </a:defRPr>
            </a:lvl1pPr>
            <a:lvl2pPr>
              <a:defRPr sz="2800">
                <a:solidFill>
                  <a:srgbClr val="535353"/>
                </a:solidFill>
                <a:latin typeface="Arial" panose="020B0604020202020204" pitchFamily="34" charset="0"/>
                <a:cs typeface="Arial" panose="020B0604020202020204" pitchFamily="34" charset="0"/>
              </a:defRPr>
            </a:lvl2pPr>
            <a:lvl3pPr>
              <a:defRPr sz="2400">
                <a:solidFill>
                  <a:srgbClr val="535353"/>
                </a:solidFill>
                <a:latin typeface="Arial" panose="020B0604020202020204" pitchFamily="34" charset="0"/>
                <a:cs typeface="Arial" panose="020B0604020202020204" pitchFamily="34" charset="0"/>
              </a:defRPr>
            </a:lvl3pPr>
            <a:lvl4pPr>
              <a:defRPr sz="2400">
                <a:solidFill>
                  <a:srgbClr val="535353"/>
                </a:solidFill>
                <a:latin typeface="Arial" panose="020B0604020202020204" pitchFamily="34" charset="0"/>
                <a:cs typeface="Arial" panose="020B0604020202020204" pitchFamily="34" charset="0"/>
              </a:defRPr>
            </a:lvl4pPr>
            <a:lvl5pPr>
              <a:defRPr sz="2000">
                <a:solidFill>
                  <a:srgbClr val="535353"/>
                </a:solidFill>
                <a:latin typeface="Arial" panose="020B0604020202020204" pitchFamily="34" charset="0"/>
                <a:cs typeface="Arial" panose="020B0604020202020204" pitchFamily="34" charset="0"/>
              </a:defRPr>
            </a:lvl5pPr>
            <a:lvl6pPr>
              <a:defRPr sz="800"/>
            </a:lvl6pPr>
            <a:lvl7pPr>
              <a:defRPr sz="800"/>
            </a:lvl7pPr>
            <a:lvl8pPr>
              <a:defRPr sz="800"/>
            </a:lvl8pPr>
            <a:lvl9pPr>
              <a:defRPr sz="8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5947030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72414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2AB5541A-34B8-B443-8DD8-10F8004A69E8}" type="datetime1">
              <a:rPr lang="en-GB" smtClean="0"/>
              <a:t>05/06/2026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F53CF18-33E6-4F22-8B3B-72C9A2B64FB6}" type="slidenum">
              <a:rPr lang="en-GB" smtClean="0"/>
              <a:t>‹#›</a:t>
            </a:fld>
            <a:endParaRPr lang="en-GB"/>
          </a:p>
        </p:txBody>
      </p:sp>
    </p:spTree>
    <p:extLst>
      <p:ext uri="{BB962C8B-B14F-4D97-AF65-F5344CB8AC3E}">
        <p14:creationId xmlns:p14="http://schemas.microsoft.com/office/powerpoint/2010/main" val="772015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9EB"/>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F66EBD65-D4FF-4AD8-B978-7F02CCDC5DF1}"/>
              </a:ext>
            </a:extLst>
          </p:cNvPr>
          <p:cNvSpPr>
            <a:spLocks noGrp="1"/>
          </p:cNvSpPr>
          <p:nvPr>
            <p:ph type="title"/>
          </p:nvPr>
        </p:nvSpPr>
        <p:spPr>
          <a:xfrm>
            <a:off x="527050" y="287335"/>
            <a:ext cx="11137900" cy="769441"/>
          </a:xfrm>
          <a:prstGeom prst="rect">
            <a:avLst/>
          </a:prstGeom>
        </p:spPr>
        <p:txBody>
          <a:bodyPr vert="horz" lIns="91440" tIns="45720" rIns="91440" bIns="45720" rtlCol="0" anchor="t" anchorCtr="0">
            <a:normAutofit/>
          </a:bodyPr>
          <a:lstStyle/>
          <a:p>
            <a:r>
              <a:rPr lang="en-US" dirty="0"/>
              <a:t>Click to edit Master title</a:t>
            </a:r>
            <a:endParaRPr lang="en-GB" dirty="0"/>
          </a:p>
        </p:txBody>
      </p:sp>
      <p:sp>
        <p:nvSpPr>
          <p:cNvPr id="3" name="Content">
            <a:extLst>
              <a:ext uri="{FF2B5EF4-FFF2-40B4-BE49-F238E27FC236}">
                <a16:creationId xmlns:a16="http://schemas.microsoft.com/office/drawing/2014/main" id="{101E9A58-25BC-41BC-BBD0-98940C3E00F2}"/>
              </a:ext>
            </a:extLst>
          </p:cNvPr>
          <p:cNvSpPr>
            <a:spLocks noGrp="1"/>
          </p:cNvSpPr>
          <p:nvPr>
            <p:ph type="body" idx="1"/>
          </p:nvPr>
        </p:nvSpPr>
        <p:spPr>
          <a:xfrm>
            <a:off x="527049" y="1756229"/>
            <a:ext cx="11137899" cy="442073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725326872"/>
      </p:ext>
    </p:extLst>
  </p:cSld>
  <p:clrMap bg1="lt1" tx1="dk1" bg2="lt2" tx2="dk2" accent1="accent1" accent2="accent2" accent3="accent3" accent4="accent4" accent5="accent5" accent6="accent6" hlink="hlink" folHlink="folHlink"/>
  <p:sldLayoutIdLst>
    <p:sldLayoutId id="2147483694" r:id="rId1"/>
    <p:sldLayoutId id="2147483714" r:id="rId2"/>
    <p:sldLayoutId id="2147483695" r:id="rId3"/>
    <p:sldLayoutId id="2147483704" r:id="rId4"/>
    <p:sldLayoutId id="2147483696" r:id="rId5"/>
    <p:sldLayoutId id="2147483705" r:id="rId6"/>
    <p:sldLayoutId id="2147483711" r:id="rId7"/>
    <p:sldLayoutId id="2147483712" r:id="rId8"/>
    <p:sldLayoutId id="2147483697" r:id="rId9"/>
    <p:sldLayoutId id="2147483709" r:id="rId10"/>
    <p:sldLayoutId id="2147483698" r:id="rId11"/>
    <p:sldLayoutId id="2147483699" r:id="rId12"/>
    <p:sldLayoutId id="2147483703" r:id="rId13"/>
    <p:sldLayoutId id="2147483700" r:id="rId14"/>
    <p:sldLayoutId id="2147483701" r:id="rId15"/>
    <p:sldLayoutId id="2147483713" r:id="rId16"/>
    <p:sldLayoutId id="2147483702" r:id="rId17"/>
    <p:sldLayoutId id="2147483715" r:id="rId18"/>
    <p:sldLayoutId id="2147483716" r:id="rId19"/>
    <p:sldLayoutId id="2147483717" r:id="rId20"/>
  </p:sldLayoutIdLst>
  <p:txStyles>
    <p:titleStyle>
      <a:lvl1pPr algn="l" defTabSz="914400" rtl="0" eaLnBrk="1" latinLnBrk="0" hangingPunct="1">
        <a:spcBef>
          <a:spcPct val="0"/>
        </a:spcBef>
        <a:buNone/>
        <a:defRPr sz="4400" b="1" kern="1200">
          <a:solidFill>
            <a:schemeClr val="accent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spcAft>
          <a:spcPts val="600"/>
        </a:spcAft>
        <a:buFont typeface="Arial" panose="020B0604020202020204" pitchFamily="34" charset="0"/>
        <a:buChar char="•"/>
        <a:defRPr sz="3000" kern="1200">
          <a:solidFill>
            <a:schemeClr val="tx1"/>
          </a:solidFill>
          <a:latin typeface="Arial" panose="020B0604020202020204" pitchFamily="34" charset="0"/>
          <a:ea typeface="+mn-ea"/>
          <a:cs typeface="Arial" panose="020B0604020202020204" pitchFamily="34" charset="0"/>
        </a:defRPr>
      </a:lvl1pPr>
      <a:lvl2pPr marL="756000" indent="-342000" algn="l" defTabSz="914400" rtl="0" eaLnBrk="1" latinLnBrk="0" hangingPunct="1">
        <a:spcBef>
          <a:spcPct val="20000"/>
        </a:spcBef>
        <a:spcAft>
          <a:spcPts val="600"/>
        </a:spcAft>
        <a:buFont typeface="Wingdings" panose="05000000000000000000" pitchFamily="2" charset="2"/>
        <a:buChar char="§"/>
        <a:defRPr sz="2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spcAft>
          <a:spcPts val="600"/>
        </a:spcAft>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spcAft>
          <a:spcPts val="600"/>
        </a:spcAft>
        <a:buFont typeface="Wingdings" panose="05000000000000000000" pitchFamily="2" charset="2"/>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6.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7.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8.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9.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0.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2.xml"/>
<Relationship Id="rId3" Type="http://schemas.openxmlformats.org/officeDocument/2006/relationships/image" Target="../media/6e5ab24497be8b3289d346c3de0ee58c822cd46c.png"/>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3.xml"/>
<Relationship Id="rId3" Type="http://schemas.openxmlformats.org/officeDocument/2006/relationships/image" Target="../media/4106c1c755fd98b6e016b4485719bf1d262be59c.png"/>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4.xml"/>
<Relationship Id="rId3" Type="http://schemas.openxmlformats.org/officeDocument/2006/relationships/image" Target="../media/087a344d294bced4dec9f1fcc5194d300ddeb1d6.png"/>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5.xml"/>
<Relationship Id="rId3" Type="http://schemas.openxmlformats.org/officeDocument/2006/relationships/image" Target="../media/26caca934e7afe3bfd09529007bdb72b641f0d3e.png"/>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6.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7.xml"/>
<Relationship Id="rId3" Type="http://schemas.openxmlformats.org/officeDocument/2006/relationships/image" Target="../media/7316e26fe6e57aa49fd4a988d80a79902bf4bded.png"/>
<Relationship Id="rId4" Type="http://schemas.openxmlformats.org/officeDocument/2006/relationships/image" Target="../media/975c41285cf1f8b3d69b2534150d1349a3a4829f.png"/>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8.xml"/>
<Relationship Id="rId3" Type="http://schemas.openxmlformats.org/officeDocument/2006/relationships/image" Target="../media/5833efd1cf12212129c767a0edaafe37cfc58b2d.png"/>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9.xml"/>
<Relationship Id="rId3" Type="http://schemas.openxmlformats.org/officeDocument/2006/relationships/image" Target="../media/2a7d80c029a98e5dc6132db8e8e05521f131053e.png"/>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0.xml"/>
<Relationship Id="rId3" Type="http://schemas.openxmlformats.org/officeDocument/2006/relationships/image" Target="../media/3a1a6fc866d3954484d6e7383ede2f7b6cdd4d40.png"/>
<Relationship Id="rId4" Type="http://schemas.openxmlformats.org/officeDocument/2006/relationships/image" Target="../media/6e6dd90ce3dd1e5e325224fc1ae64a5cd81ed942.png"/>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1.xml"/>
<Relationship Id="rId3" Type="http://schemas.openxmlformats.org/officeDocument/2006/relationships/image" Target="../media/63513e2ffb91f0878c6688ffe1c363f4b25426cc.png"/>
<Relationship Id="rId4" Type="http://schemas.openxmlformats.org/officeDocument/2006/relationships/image" Target="../media/0d5dd8fb8f11854b9f02b59681eac96bc4c6ce63.png"/>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2.xml"/>
<Relationship Id="rId3" Type="http://schemas.openxmlformats.org/officeDocument/2006/relationships/image" Target="../media/8064d9ebd03d2ec06d49ccf0b8205e98c07c2bb6.png"/>
<Relationship Id="rId4" Type="http://schemas.openxmlformats.org/officeDocument/2006/relationships/image" Target="../media/aa4d70e05d42f23dc498726b9615e143016a1e7e.png"/>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3.xml"/>
<Relationship Id="rId3" Type="http://schemas.openxmlformats.org/officeDocument/2006/relationships/image" Target="../media/5ea3a89e05c9bc8f96f9ba52f1b4010e41244437.png"/>
<Relationship Id="rId4" Type="http://schemas.openxmlformats.org/officeDocument/2006/relationships/image" Target="../media/a7cbd27525916f955f7219caba432ba115cbe843.png"/>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4.xml"/>
<Relationship Id="rId3" Type="http://schemas.openxmlformats.org/officeDocument/2006/relationships/image" Target="../media/0b369ca224c168476c62c5ea8fc4808499a9617e.png"/>
<Relationship Id="rId4" Type="http://schemas.openxmlformats.org/officeDocument/2006/relationships/image" Target="../media/f8f6189ed9a63727606688aa9a6f13a70f4a7dea.png"/>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5.xml"/>
<Relationship Id="rId3" Type="http://schemas.openxmlformats.org/officeDocument/2006/relationships/image" Target="../media/ed82b4edf682acafeaf0fb3c7dc7d7d7a53eb2b5.png"/>
<Relationship Id="rId4" Type="http://schemas.openxmlformats.org/officeDocument/2006/relationships/image" Target="../media/25d3a5e6112257b3420d9e6bef6604a4beffb890.png"/>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6.xml"/>
<Relationship Id="rId3" Type="http://schemas.openxmlformats.org/officeDocument/2006/relationships/image" Target="../media/60bfeee575e8a52e4f598ff4d30116f8047232df.png"/>
<Relationship Id="rId4" Type="http://schemas.openxmlformats.org/officeDocument/2006/relationships/image" Target="../media/a5c136c129aa449202fe6494031ffb868db99edc.png"/>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7.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8.xml"/>
<Relationship Id="rId3" Type="http://schemas.openxmlformats.org/officeDocument/2006/relationships/image" Target="../media/4c1ab24f9b50ece92439188bb607e0ac9295fb54.png"/>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9.xml"/>
<Relationship Id="rId3" Type="http://schemas.openxmlformats.org/officeDocument/2006/relationships/image" Target="../media/508b9418b501e08c21142b1237c429427ad4f980.png"/>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30.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31.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3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Genetic architecture of agronomic and physiological traits in foxtail millet</a:t>
            </a:r>
          </a:p>
        </p:txBody>
      </p:sp>
      <p:sp>
        <p:nvSpPr>
          <p:cNvPr id="3" name=""/>
          <p:cNvSpPr>
            <a:spLocks noGrp="1"/>
          </p:cNvSpPr>
          <p:nvPr>
            <p:ph/>
          </p:nvPr>
        </p:nvSpPr>
        <p:spPr>
          <a:xfrm>
            <a:off x="914400" y="1965960"/>
            <a:ext cx="10332720" cy="685800"/>
          </a:xfrm>
        </p:spPr>
        <p:txBody>
          <a:bodyPr/>
          <a:lstStyle/>
          <a:p>
            <a:pPr algn="ctr" marL="0" marR="0">
              <a:lnSpc>
                <a:spcPct val="100000"/>
              </a:lnSpc>
              <a:spcBef>
                <a:spcPts val="0"/>
              </a:spcBef>
              <a:spcAft>
                <a:spcPts val="0"/>
              </a:spcAft>
              <a:buNone/>
            </a:pPr>
            <a:r>
              <a:rPr cap="none" sz="2400" i="0" b="0" u="none" strike="noStrike">
                <a:solidFill>
                  <a:srgbClr val="18354A">
                    <a:alpha val="100000"/>
                  </a:srgbClr>
                </a:solidFill>
                <a:latin typeface="Arial"/>
                <a:cs typeface="Arial"/>
                <a:ea typeface="Arial"/>
                <a:sym typeface="Arial"/>
              </a:rPr>
              <a:t>Separate GWAS in LN2023, LN2024 and HN2024 field environments</a:t>
            </a:r>
          </a:p>
        </p:txBody>
      </p:sp>
      <p:sp>
        <p:nvSpPr>
          <p:cNvPr id="4" name=""/>
          <p:cNvSpPr>
            <a:spLocks noGrp="1"/>
          </p:cNvSpPr>
          <p:nvPr>
            <p:ph/>
          </p:nvPr>
        </p:nvSpPr>
        <p:spPr>
          <a:xfrm>
            <a:off x="1280160" y="3154680"/>
            <a:ext cx="9601200" cy="1371600"/>
          </a:xfrm>
        </p:spPr>
        <p:txBody>
          <a:bodyPr/>
          <a:lstStyle/>
          <a:p>
            <a:pPr algn="ctr" marL="0" marR="0">
              <a:lnSpc>
                <a:spcPct val="100000"/>
              </a:lnSpc>
              <a:spcBef>
                <a:spcPts val="0"/>
              </a:spcBef>
              <a:spcAft>
                <a:spcPts val="0"/>
              </a:spcAft>
              <a:buNone/>
            </a:pPr>
            <a:r>
              <a:rPr cap="none" sz="1800" i="0" b="0" u="none" strike="noStrike">
                <a:solidFill>
                  <a:srgbClr val="4D4D4D">
                    <a:alpha val="100000"/>
                  </a:srgbClr>
                </a:solidFill>
                <a:latin typeface="Arial"/>
                <a:cs typeface="Arial"/>
                <a:ea typeface="Arial"/>
                <a:sym typeface="Arial"/>
              </a:rPr>
              <a:t>Dr. Nelson Lubanga
Institute of Biological, Environmental and Rural Sciences
Aberystwyth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Study design and analysis workflow</a:t>
            </a:r>
          </a:p>
        </p:txBody>
      </p:sp>
      <p:sp>
        <p:nvSpPr>
          <p:cNvPr id="3" name=""/>
          <p:cNvSpPr>
            <a:spLocks noGrp="1"/>
          </p:cNvSpPr>
          <p:nvPr>
            <p:ph/>
          </p:nvPr>
        </p:nvSpPr>
        <p:spPr>
          <a:xfrm>
            <a:off x="685800" y="1371600"/>
            <a:ext cx="10789920" cy="4389120"/>
          </a:xfrm>
        </p:spPr>
        <p:txBody>
          <a:bodyPr/>
          <a:lstStyle/>
          <a:p>
            <a:pPr algn="l" marL="0" marR="0">
              <a:lnSpc>
                <a:spcPct val="100000"/>
              </a:lnSpc>
              <a:spcBef>
                <a:spcPts val="0"/>
              </a:spcBef>
              <a:spcAft>
                <a:spcPts val="800"/>
              </a:spcAft>
              <a:buNone/>
            </a:pPr>
            <a:r>
              <a:rPr cap="none" sz="1900" i="0" b="0" u="none" strike="noStrike">
                <a:solidFill>
                  <a:srgbClr val="4D4D4D">
                    <a:alpha val="100000"/>
                  </a:srgbClr>
                </a:solidFill>
                <a:latin typeface="Arial"/>
                <a:cs typeface="Arial"/>
                <a:ea typeface="Arial"/>
                <a:sym typeface="Arial"/>
              </a:rPr>
              <a:t>•  LN2023, LN2024 and HN2024 analysed separately</a:t>
            </a:r>
          </a:p>
          <a:p>
            <a:pPr algn="l" marL="0" marR="0">
              <a:lnSpc>
                <a:spcPct val="100000"/>
              </a:lnSpc>
              <a:spcBef>
                <a:spcPts val="0"/>
              </a:spcBef>
              <a:spcAft>
                <a:spcPts val="800"/>
              </a:spcAft>
              <a:buNone/>
            </a:pPr>
            <a:r>
              <a:rPr cap="none" sz="1900" i="0" b="0" u="none" strike="noStrike">
                <a:solidFill>
                  <a:srgbClr val="4D4D4D">
                    <a:alpha val="100000"/>
                  </a:srgbClr>
                </a:solidFill>
                <a:latin typeface="Arial"/>
                <a:cs typeface="Arial"/>
                <a:ea typeface="Arial"/>
                <a:sym typeface="Arial"/>
              </a:rPr>
              <a:t>•  Eight traits per environment → 24 phenotype datasets</a:t>
            </a:r>
          </a:p>
          <a:p>
            <a:pPr algn="l" marL="0" marR="0">
              <a:lnSpc>
                <a:spcPct val="100000"/>
              </a:lnSpc>
              <a:spcBef>
                <a:spcPts val="0"/>
              </a:spcBef>
              <a:spcAft>
                <a:spcPts val="800"/>
              </a:spcAft>
              <a:buNone/>
            </a:pPr>
            <a:r>
              <a:rPr cap="none" sz="1900" i="0" b="0" u="none" strike="noStrike">
                <a:solidFill>
                  <a:srgbClr val="4D4D4D">
                    <a:alpha val="100000"/>
                  </a:srgbClr>
                </a:solidFill>
                <a:latin typeface="Arial"/>
                <a:cs typeface="Arial"/>
                <a:ea typeface="Arial"/>
                <a:sym typeface="Arial"/>
              </a:rPr>
              <a:t>•  ASReml-R BLUEs: genotype fixed; block random</a:t>
            </a:r>
          </a:p>
          <a:p>
            <a:pPr algn="l" marL="0" marR="0">
              <a:lnSpc>
                <a:spcPct val="100000"/>
              </a:lnSpc>
              <a:spcBef>
                <a:spcPts val="0"/>
              </a:spcBef>
              <a:spcAft>
                <a:spcPts val="800"/>
              </a:spcAft>
              <a:buNone/>
            </a:pPr>
            <a:r>
              <a:rPr cap="none" sz="1900" i="0" b="0" u="none" strike="noStrike">
                <a:solidFill>
                  <a:srgbClr val="4D4D4D">
                    <a:alpha val="100000"/>
                  </a:srgbClr>
                </a:solidFill>
                <a:latin typeface="Arial"/>
                <a:cs typeface="Arial"/>
                <a:ea typeface="Arial"/>
                <a:sym typeface="Arial"/>
              </a:rPr>
              <a:t>•  MLM, FarmCPU and BLINK → 72 seeded GWAS analyses</a:t>
            </a:r>
          </a:p>
          <a:p>
            <a:pPr algn="l" marL="0" marR="0">
              <a:lnSpc>
                <a:spcPct val="100000"/>
              </a:lnSpc>
              <a:spcBef>
                <a:spcPts val="0"/>
              </a:spcBef>
              <a:spcAft>
                <a:spcPts val="800"/>
              </a:spcAft>
              <a:buNone/>
            </a:pPr>
            <a:r>
              <a:rPr cap="none" sz="1900" i="0" b="0" u="none" strike="noStrike">
                <a:solidFill>
                  <a:srgbClr val="4D4D4D">
                    <a:alpha val="100000"/>
                  </a:srgbClr>
                </a:solidFill>
                <a:latin typeface="Arial"/>
                <a:cs typeface="Arial"/>
                <a:ea typeface="Arial"/>
                <a:sym typeface="Arial"/>
              </a:rPr>
              <a:t>•  177 accessions and 848,687 chromosome-anchored SNPs</a:t>
            </a:r>
          </a:p>
          <a:p>
            <a:pPr algn="l" marL="0" marR="0">
              <a:lnSpc>
                <a:spcPct val="100000"/>
              </a:lnSpc>
              <a:spcBef>
                <a:spcPts val="0"/>
              </a:spcBef>
              <a:spcAft>
                <a:spcPts val="800"/>
              </a:spcAft>
              <a:buNone/>
            </a:pPr>
            <a:r>
              <a:rPr cap="none" sz="1900" i="0" b="0" u="none" strike="noStrike">
                <a:solidFill>
                  <a:srgbClr val="4D4D4D">
                    <a:alpha val="100000"/>
                  </a:srgbClr>
                </a:solidFill>
                <a:latin typeface="Arial"/>
                <a:cs typeface="Arial"/>
                <a:ea typeface="Arial"/>
                <a:sym typeface="Arial"/>
              </a:rPr>
              <a:t>•  10% individual and SNP missingness; MAF ≥ 0.05; chromosomes 1–9 only</a:t>
            </a:r>
          </a:p>
        </p:txBody>
      </p:sp>
      <p:sp>
        <p:nvSpPr>
          <p:cNvPr id="4" name=""/>
          <p:cNvSpPr>
            <a:spLocks noGrp="1"/>
          </p:cNvSpPr>
          <p:nvPr>
            <p:ph/>
          </p:nvPr>
        </p:nvSpPr>
        <p:spPr>
          <a:xfrm>
            <a:off x="822960" y="5532120"/>
            <a:ext cx="10515600" cy="438912"/>
          </a:xfrm>
        </p:spPr>
        <p:txBody>
          <a:bodyPr/>
          <a:lstStyle/>
          <a:p>
            <a:pPr algn="ctr" marL="0" marR="0">
              <a:lnSpc>
                <a:spcPct val="100000"/>
              </a:lnSpc>
              <a:spcBef>
                <a:spcPts val="0"/>
              </a:spcBef>
              <a:spcAft>
                <a:spcPts val="0"/>
              </a:spcAft>
              <a:buNone/>
            </a:pPr>
            <a:r>
              <a:rPr cap="none" sz="1500" i="0" b="1" u="none" strike="noStrike">
                <a:solidFill>
                  <a:srgbClr val="B2182B">
                    <a:alpha val="100000"/>
                  </a:srgbClr>
                </a:solidFill>
                <a:latin typeface="Arial"/>
                <a:cs typeface="Arial"/>
                <a:ea typeface="Arial"/>
                <a:sym typeface="Arial"/>
              </a:rPr>
              <a:t>The design supports environment-specific GWAS, not a formal genotype-by-nitrogen interaction test.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Genome-wide association results: headline numbers</a:t>
            </a:r>
          </a:p>
        </p:txBody>
      </p:sp>
      <p:graphicFrame>
        <p:nvGraphicFramePr>
          <p:cNvPr id="3" name=""/>
          <p:cNvGraphicFramePr>
            <a:graphicFrameLocks noGrp="true"/>
          </p:cNvGraphicFramePr>
          <p:nvPr/>
        </p:nvGraphicFramePr>
        <p:xfrm rot="0">
          <a:off x="685800" y="1417320"/>
          <a:ext cx="10835640" cy="3063240"/>
        </p:xfrm>
        <a:graphic>
          <a:graphicData uri="http://schemas.openxmlformats.org/drawingml/2006/table">
            <a:tbl>
              <a:tblPr/>
              <a:tblGrid>
                <a:gridCol w="2971800"/>
                <a:gridCol w="1143000"/>
                <a:gridCol w="5943600"/>
              </a:tblGrid>
              <a:tr h="228600">
                <a:tc>
                  <a:txBody>
                    <a:bodyPr/>
                    <a:lstStyle/>
                    <a:p>
                      <a:pPr algn="ctr" marL="38100" marR="38100">
                        <a:lnSpc>
                          <a:spcPct val="100000"/>
                        </a:lnSpc>
                        <a:spcBef>
                          <a:spcPts val="300"/>
                        </a:spcBef>
                        <a:spcAft>
                          <a:spcPts val="300"/>
                        </a:spcAft>
                        <a:buNone/>
                      </a:pPr>
                      <a:r>
                        <a:rPr cap="none" sz="1500" i="0" b="1" u="none" strike="noStrike">
                          <a:solidFill>
                            <a:srgbClr val="FFFFFF">
                              <a:alpha val="100000"/>
                            </a:srgbClr>
                          </a:solidFill>
                          <a:latin typeface="Arial"/>
                          <a:cs typeface="Arial"/>
                          <a:ea typeface="Arial"/>
                          <a:sym typeface="Arial"/>
                        </a:rPr>
                        <a:t>Result</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500" i="0" b="1" u="none" strike="noStrike">
                          <a:solidFill>
                            <a:srgbClr val="FFFFFF">
                              <a:alpha val="100000"/>
                            </a:srgbClr>
                          </a:solidFill>
                          <a:latin typeface="Arial"/>
                          <a:cs typeface="Arial"/>
                          <a:ea typeface="Arial"/>
                          <a:sym typeface="Arial"/>
                        </a:rPr>
                        <a:t>Number</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500" i="0" b="1" u="none" strike="noStrike">
                          <a:solidFill>
                            <a:srgbClr val="FFFFFF">
                              <a:alpha val="100000"/>
                            </a:srgbClr>
                          </a:solidFill>
                          <a:latin typeface="Arial"/>
                          <a:cs typeface="Arial"/>
                          <a:ea typeface="Arial"/>
                          <a:sym typeface="Arial"/>
                        </a:rPr>
                        <a:t>Meaning</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r>
              <a:tr h="228600">
                <a:tc>
                  <a:txBody>
                    <a:bodyPr/>
                    <a:lstStyle/>
                    <a:p>
                      <a:pPr algn="ctr" marL="38100" marR="38100">
                        <a:lnSpc>
                          <a:spcPct val="100000"/>
                        </a:lnSpc>
                        <a:spcBef>
                          <a:spcPts val="300"/>
                        </a:spcBef>
                        <a:spcAft>
                          <a:spcPts val="300"/>
                        </a:spcAft>
                        <a:buNone/>
                      </a:pPr>
                      <a:r>
                        <a:rPr cap="none" sz="1500" i="0" b="0" u="none" strike="noStrike">
                          <a:solidFill>
                            <a:srgbClr val="000000">
                              <a:alpha val="100000"/>
                            </a:srgbClr>
                          </a:solidFill>
                          <a:latin typeface="Arial"/>
                          <a:cs typeface="Arial"/>
                          <a:ea typeface="Arial"/>
                          <a:sym typeface="Arial"/>
                        </a:rPr>
                        <a:t>Significant association records</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500" i="0" b="0" u="none" strike="noStrike">
                          <a:solidFill>
                            <a:srgbClr val="000000">
                              <a:alpha val="100000"/>
                            </a:srgbClr>
                          </a:solidFill>
                          <a:latin typeface="Arial"/>
                          <a:cs typeface="Arial"/>
                          <a:ea typeface="Arial"/>
                          <a:sym typeface="Arial"/>
                        </a:rPr>
                        <a:t>181</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500" i="0" b="0" u="none" strike="noStrike">
                          <a:solidFill>
                            <a:srgbClr val="000000">
                              <a:alpha val="100000"/>
                            </a:srgbClr>
                          </a:solidFill>
                          <a:latin typeface="Arial"/>
                          <a:cs typeface="Arial"/>
                          <a:ea typeface="Arial"/>
                          <a:sym typeface="Arial"/>
                        </a:rPr>
                        <a:t>Counts repeated detections across traits, environments and models</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500" i="0" b="0" u="none" strike="noStrike">
                          <a:solidFill>
                            <a:srgbClr val="000000">
                              <a:alpha val="100000"/>
                            </a:srgbClr>
                          </a:solidFill>
                          <a:latin typeface="Arial"/>
                          <a:cs typeface="Arial"/>
                          <a:ea typeface="Arial"/>
                          <a:sym typeface="Arial"/>
                        </a:rPr>
                        <a:t>Unique significant SNPs</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500" i="0" b="0" u="none" strike="noStrike">
                          <a:solidFill>
                            <a:srgbClr val="000000">
                              <a:alpha val="100000"/>
                            </a:srgbClr>
                          </a:solidFill>
                          <a:latin typeface="Arial"/>
                          <a:cs typeface="Arial"/>
                          <a:ea typeface="Arial"/>
                          <a:sym typeface="Arial"/>
                        </a:rPr>
                        <a:t>160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500" i="0" b="0" u="none" strike="noStrike">
                          <a:solidFill>
                            <a:srgbClr val="000000">
                              <a:alpha val="100000"/>
                            </a:srgbClr>
                          </a:solidFill>
                          <a:latin typeface="Arial"/>
                          <a:cs typeface="Arial"/>
                          <a:ea typeface="Arial"/>
                          <a:sym typeface="Arial"/>
                        </a:rPr>
                        <a:t>Each significant marker counted once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500" i="0" b="0" u="none" strike="noStrike">
                          <a:solidFill>
                            <a:srgbClr val="000000">
                              <a:alpha val="100000"/>
                            </a:srgbClr>
                          </a:solidFill>
                          <a:latin typeface="Arial"/>
                          <a:cs typeface="Arial"/>
                          <a:ea typeface="Arial"/>
                          <a:sym typeface="Arial"/>
                        </a:rPr>
                        <a:t>Prioritized unique SNPs</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500" i="0" b="0" u="none" strike="noStrike">
                          <a:solidFill>
                            <a:srgbClr val="000000">
                              <a:alpha val="100000"/>
                            </a:srgbClr>
                          </a:solidFill>
                          <a:latin typeface="Arial"/>
                          <a:cs typeface="Arial"/>
                          <a:ea typeface="Arial"/>
                          <a:sym typeface="Arial"/>
                        </a:rPr>
                        <a:t>95</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500" i="0" b="0" u="none" strike="noStrike">
                          <a:solidFill>
                            <a:srgbClr val="000000">
                              <a:alpha val="100000"/>
                            </a:srgbClr>
                          </a:solidFill>
                          <a:latin typeface="Arial"/>
                          <a:cs typeface="Arial"/>
                          <a:ea typeface="Arial"/>
                          <a:sym typeface="Arial"/>
                        </a:rPr>
                        <a:t>Unique SNPs with trait-specific MAF ≥ 0.05</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r>
            </a:tbl>
          </a:graphicData>
        </a:graphic>
      </p:graphicFrame>
      <p:sp>
        <p:nvSpPr>
          <p:cNvPr id="4" name=""/>
          <p:cNvSpPr>
            <a:spLocks noGrp="1"/>
          </p:cNvSpPr>
          <p:nvPr>
            <p:ph/>
          </p:nvPr>
        </p:nvSpPr>
        <p:spPr>
          <a:xfrm>
            <a:off x="960120" y="4800600"/>
            <a:ext cx="4389120" cy="502920"/>
          </a:xfrm>
        </p:spPr>
        <p:txBody>
          <a:bodyPr/>
          <a:lstStyle/>
          <a:p>
            <a:pPr algn="ctr" marL="0" marR="0">
              <a:lnSpc>
                <a:spcPct val="100000"/>
              </a:lnSpc>
              <a:spcBef>
                <a:spcPts val="0"/>
              </a:spcBef>
              <a:spcAft>
                <a:spcPts val="0"/>
              </a:spcAft>
              <a:buNone/>
            </a:pPr>
            <a:r>
              <a:rPr cap="none" sz="1900" i="0" b="1" u="none" strike="noStrike">
                <a:solidFill>
                  <a:srgbClr val="B2182B">
                    <a:alpha val="100000"/>
                  </a:srgbClr>
                </a:solidFill>
                <a:latin typeface="Arial"/>
                <a:cs typeface="Arial"/>
                <a:ea typeface="Arial"/>
                <a:sym typeface="Arial"/>
              </a:rPr>
              <a:t>Bonferroni threshold: P ≤ 5.891 × 10⁻⁸</a:t>
            </a:r>
          </a:p>
        </p:txBody>
      </p:sp>
      <p:sp>
        <p:nvSpPr>
          <p:cNvPr id="5" name=""/>
          <p:cNvSpPr>
            <a:spLocks noGrp="1"/>
          </p:cNvSpPr>
          <p:nvPr>
            <p:ph/>
          </p:nvPr>
        </p:nvSpPr>
        <p:spPr>
          <a:xfrm>
            <a:off x="5577840" y="4709160"/>
            <a:ext cx="5623560" cy="777240"/>
          </a:xfrm>
        </p:spPr>
        <p:txBody>
          <a:bodyPr/>
          <a:lstStyle/>
          <a:p>
            <a:pPr algn="ctr" marL="0" marR="0">
              <a:lnSpc>
                <a:spcPct val="100000"/>
              </a:lnSpc>
              <a:spcBef>
                <a:spcPts val="0"/>
              </a:spcBef>
              <a:spcAft>
                <a:spcPts val="0"/>
              </a:spcAft>
              <a:buNone/>
            </a:pPr>
            <a:r>
              <a:rPr cap="none" sz="1700" i="0" b="1" u="none" strike="noStrike">
                <a:solidFill>
                  <a:srgbClr val="18354A">
                    <a:alpha val="100000"/>
                  </a:srgbClr>
                </a:solidFill>
                <a:latin typeface="Arial"/>
                <a:cs typeface="Arial"/>
                <a:ea typeface="Arial"/>
                <a:sym typeface="Arial"/>
              </a:rPr>
              <a:t>Interpretation: prioritize the 95 MAF-supported unique SNPs, particularly seven loci recurring across models or environments.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Complete trait summary: LN2023</a:t>
            </a:r>
          </a:p>
        </p:txBody>
      </p:sp>
      <p:graphicFrame>
        <p:nvGraphicFramePr>
          <p:cNvPr id="3" name=""/>
          <p:cNvGraphicFramePr>
            <a:graphicFrameLocks noGrp="true"/>
          </p:cNvGraphicFramePr>
          <p:nvPr/>
        </p:nvGraphicFramePr>
        <p:xfrm rot="0">
          <a:off x="594360" y="1325880"/>
          <a:ext cx="10972800" cy="4526280"/>
        </p:xfrm>
        <a:graphic>
          <a:graphicData uri="http://schemas.openxmlformats.org/drawingml/2006/table">
            <a:tbl>
              <a:tblPr/>
              <a:tblGrid>
                <a:gridCol w="2468880"/>
                <a:gridCol w="914400"/>
                <a:gridCol w="1188720"/>
                <a:gridCol w="1188720"/>
                <a:gridCol w="1463040"/>
                <a:gridCol w="1463040"/>
              </a:tblGrid>
              <a:tr h="228600">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Trait</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GWAS n</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All records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Unique SNPs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MAF≥0.05 records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MAF≥0.05 SNPs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Days to flowering</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125</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14</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13</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13</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12</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Seed fat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65</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Plant height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129</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Panicle length</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93</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Pedicel length</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93</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Plant density</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129</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Seed protein</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Thousand-seed weight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86</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3</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3</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2</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2</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r>
            </a:tbl>
          </a:graphicData>
        </a:graphic>
      </p:graphicFrame>
      <p:sp>
        <p:nvSpPr>
          <p:cNvPr id="4" name=""/>
          <p:cNvSpPr>
            <a:spLocks noGrp="1"/>
          </p:cNvSpPr>
          <p:nvPr>
            <p:ph/>
          </p:nvPr>
        </p:nvSpPr>
        <p:spPr>
          <a:xfrm>
            <a:off x="777240" y="5623560"/>
            <a:ext cx="10607040" cy="411480"/>
          </a:xfrm>
        </p:spPr>
        <p:txBody>
          <a:bodyPr/>
          <a:lstStyle/>
          <a:p>
            <a:pPr algn="ctr" marL="0" marR="0">
              <a:lnSpc>
                <a:spcPct val="100000"/>
              </a:lnSpc>
              <a:spcBef>
                <a:spcPts val="0"/>
              </a:spcBef>
              <a:spcAft>
                <a:spcPts val="0"/>
              </a:spcAft>
              <a:buNone/>
            </a:pPr>
            <a:r>
              <a:rPr cap="none" sz="1500" i="0" b="1" u="none" strike="noStrike">
                <a:solidFill>
                  <a:srgbClr val="4D4D4D">
                    <a:alpha val="100000"/>
                  </a:srgbClr>
                </a:solidFill>
                <a:latin typeface="Arial"/>
                <a:cs typeface="Arial"/>
                <a:ea typeface="Arial"/>
                <a:sym typeface="Arial"/>
              </a:rPr>
              <a:t>No significant associations: plant density, seed protein and seed fat.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Complete trait summary: LN2024</a:t>
            </a:r>
          </a:p>
        </p:txBody>
      </p:sp>
      <p:graphicFrame>
        <p:nvGraphicFramePr>
          <p:cNvPr id="3" name=""/>
          <p:cNvGraphicFramePr>
            <a:graphicFrameLocks noGrp="true"/>
          </p:cNvGraphicFramePr>
          <p:nvPr/>
        </p:nvGraphicFramePr>
        <p:xfrm rot="0">
          <a:off x="594360" y="1325880"/>
          <a:ext cx="10972800" cy="4526280"/>
        </p:xfrm>
        <a:graphic>
          <a:graphicData uri="http://schemas.openxmlformats.org/drawingml/2006/table">
            <a:tbl>
              <a:tblPr/>
              <a:tblGrid>
                <a:gridCol w="2468880"/>
                <a:gridCol w="914400"/>
                <a:gridCol w="1188720"/>
                <a:gridCol w="1188720"/>
                <a:gridCol w="1463040"/>
                <a:gridCol w="1463040"/>
              </a:tblGrid>
              <a:tr h="228600">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Trait</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GWAS n</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All records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Unique SNPs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MAF≥0.05 records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MAF≥0.05 SNPs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Days to harvest</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80</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Days to flowering</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14</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13</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Fluorescence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Plant height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5</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5</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NDVI</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Number of tillers</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28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27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Plant density</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Seed protein</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57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5</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4</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3</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2</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r>
            </a:tbl>
          </a:graphicData>
        </a:graphic>
      </p:graphicFrame>
      <p:sp>
        <p:nvSpPr>
          <p:cNvPr id="4" name=""/>
          <p:cNvSpPr>
            <a:spLocks noGrp="1"/>
          </p:cNvSpPr>
          <p:nvPr>
            <p:ph/>
          </p:nvPr>
        </p:nvSpPr>
        <p:spPr>
          <a:xfrm>
            <a:off x="685800" y="5623560"/>
            <a:ext cx="10789920" cy="411480"/>
          </a:xfrm>
        </p:spPr>
        <p:txBody>
          <a:bodyPr/>
          <a:lstStyle/>
          <a:p>
            <a:pPr algn="ctr" marL="0" marR="0">
              <a:lnSpc>
                <a:spcPct val="100000"/>
              </a:lnSpc>
              <a:spcBef>
                <a:spcPts val="0"/>
              </a:spcBef>
              <a:spcAft>
                <a:spcPts val="0"/>
              </a:spcAft>
              <a:buNone/>
            </a:pPr>
            <a:r>
              <a:rPr cap="none" sz="1500" i="0" b="1" u="none" strike="noStrike">
                <a:solidFill>
                  <a:srgbClr val="4D4D4D">
                    <a:alpha val="100000"/>
                  </a:srgbClr>
                </a:solidFill>
                <a:latin typeface="Arial"/>
                <a:cs typeface="Arial"/>
                <a:ea typeface="Arial"/>
                <a:sym typeface="Arial"/>
              </a:rPr>
              <a:t>Tiller number and NDVI contributed most signals; plant density and fluorescence had no significant associations.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Complete trait summary: HN2024</a:t>
            </a:r>
          </a:p>
        </p:txBody>
      </p:sp>
      <p:graphicFrame>
        <p:nvGraphicFramePr>
          <p:cNvPr id="3" name=""/>
          <p:cNvGraphicFramePr>
            <a:graphicFrameLocks noGrp="true"/>
          </p:cNvGraphicFramePr>
          <p:nvPr/>
        </p:nvGraphicFramePr>
        <p:xfrm rot="0">
          <a:off x="594360" y="1325880"/>
          <a:ext cx="10972800" cy="4526280"/>
        </p:xfrm>
        <a:graphic>
          <a:graphicData uri="http://schemas.openxmlformats.org/drawingml/2006/table">
            <a:tbl>
              <a:tblPr/>
              <a:tblGrid>
                <a:gridCol w="2468880"/>
                <a:gridCol w="914400"/>
                <a:gridCol w="1188720"/>
                <a:gridCol w="1188720"/>
                <a:gridCol w="1463040"/>
                <a:gridCol w="1463040"/>
              </a:tblGrid>
              <a:tr h="228600">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Trait</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GWAS n</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All records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Unique SNPs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MAF≥0.05 records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MAF≥0.05 SNPs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Days to harvest</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80</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6</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4</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4</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Days to flowering</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9</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Fluorescence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Plant height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9</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9</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NDVI</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Number of tillers</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32</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28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4</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4</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Plant density</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75</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Seed protein</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67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r>
            </a:tbl>
          </a:graphicData>
        </a:graphic>
      </p:graphicFrame>
      <p:sp>
        <p:nvSpPr>
          <p:cNvPr id="4" name=""/>
          <p:cNvSpPr>
            <a:spLocks noGrp="1"/>
          </p:cNvSpPr>
          <p:nvPr>
            <p:ph/>
          </p:nvPr>
        </p:nvSpPr>
        <p:spPr>
          <a:xfrm>
            <a:off x="685800" y="5623560"/>
            <a:ext cx="10789920" cy="411480"/>
          </a:xfrm>
        </p:spPr>
        <p:txBody>
          <a:bodyPr/>
          <a:lstStyle/>
          <a:p>
            <a:pPr algn="ctr" marL="0" marR="0">
              <a:lnSpc>
                <a:spcPct val="100000"/>
              </a:lnSpc>
              <a:spcBef>
                <a:spcPts val="0"/>
              </a:spcBef>
              <a:spcAft>
                <a:spcPts val="0"/>
              </a:spcAft>
              <a:buNone/>
            </a:pPr>
            <a:r>
              <a:rPr cap="none" sz="1500" i="0" b="1" u="none" strike="noStrike">
                <a:solidFill>
                  <a:srgbClr val="4D4D4D">
                    <a:alpha val="100000"/>
                  </a:srgbClr>
                </a:solidFill>
                <a:latin typeface="Arial"/>
                <a:cs typeface="Arial"/>
                <a:ea typeface="Arial"/>
                <a:sym typeface="Arial"/>
              </a:rPr>
              <a:t>Tiller number was dominant; plant density, NDVI and fluorescence had no significant associations.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Broad-sense heritability within each environment</a:t>
            </a:r>
          </a:p>
        </p:txBody>
      </p:sp>
      <p:pic>
        <p:nvPicPr>
          <p:cNvPr id="3" name="" descr=""/>
          <p:cNvPicPr>
            <a:picLocks noGrp="1"/>
          </p:cNvPicPr>
          <p:nvPr>
            <p:ph/>
          </p:nvPr>
        </p:nvPicPr>
        <p:blipFill>
          <a:blip r:embed="rId3"/>
          <a:stretch>
            <a:fillRect/>
          </a:stretch>
        </p:blipFill>
        <p:spPr>
          <a:xfrm>
            <a:off x="411480" y="1143000"/>
            <a:ext cx="11338560" cy="53035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Phenotype distributions in LN2023</a:t>
            </a:r>
          </a:p>
        </p:txBody>
      </p:sp>
      <p:pic>
        <p:nvPicPr>
          <p:cNvPr id="3" name="" descr=""/>
          <p:cNvPicPr>
            <a:picLocks noGrp="1"/>
          </p:cNvPicPr>
          <p:nvPr>
            <p:ph/>
          </p:nvPr>
        </p:nvPicPr>
        <p:blipFill>
          <a:blip r:embed="rId3"/>
          <a:stretch>
            <a:fillRect/>
          </a:stretch>
        </p:blipFill>
        <p:spPr>
          <a:xfrm>
            <a:off x="502920" y="1170432"/>
            <a:ext cx="11155680" cy="5257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Phenotype distributions in LN2024</a:t>
            </a:r>
          </a:p>
        </p:txBody>
      </p:sp>
      <p:pic>
        <p:nvPicPr>
          <p:cNvPr id="3" name="" descr=""/>
          <p:cNvPicPr>
            <a:picLocks noGrp="1"/>
          </p:cNvPicPr>
          <p:nvPr>
            <p:ph/>
          </p:nvPr>
        </p:nvPicPr>
        <p:blipFill>
          <a:blip r:embed="rId3"/>
          <a:stretch>
            <a:fillRect/>
          </a:stretch>
        </p:blipFill>
        <p:spPr>
          <a:xfrm>
            <a:off x="502920" y="1170432"/>
            <a:ext cx="11155680" cy="5257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Phenotype distributions in HN2024</a:t>
            </a:r>
          </a:p>
        </p:txBody>
      </p:sp>
      <p:pic>
        <p:nvPicPr>
          <p:cNvPr id="3" name="" descr=""/>
          <p:cNvPicPr>
            <a:picLocks noGrp="1"/>
          </p:cNvPicPr>
          <p:nvPr>
            <p:ph/>
          </p:nvPr>
        </p:nvPicPr>
        <p:blipFill>
          <a:blip r:embed="rId3"/>
          <a:stretch>
            <a:fillRect/>
          </a:stretch>
        </p:blipFill>
        <p:spPr>
          <a:xfrm>
            <a:off x="502920" y="1170432"/>
            <a:ext cx="11155680" cy="5257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Model contributions and calibration</a:t>
            </a:r>
          </a:p>
        </p:txBody>
      </p:sp>
      <p:graphicFrame>
        <p:nvGraphicFramePr>
          <p:cNvPr id="3" name=""/>
          <p:cNvGraphicFramePr>
            <a:graphicFrameLocks noGrp="true"/>
          </p:cNvGraphicFramePr>
          <p:nvPr/>
        </p:nvGraphicFramePr>
        <p:xfrm rot="0">
          <a:off x="731520" y="1417320"/>
          <a:ext cx="6675120" cy="3200400"/>
        </p:xfrm>
        <a:graphic>
          <a:graphicData uri="http://schemas.openxmlformats.org/drawingml/2006/table">
            <a:tbl>
              <a:tblPr/>
              <a:tblGrid>
                <a:gridCol w="1280160"/>
                <a:gridCol w="1463040"/>
                <a:gridCol w="1280160"/>
                <a:gridCol w="1371600"/>
                <a:gridCol w="1097280"/>
              </a:tblGrid>
              <a:tr h="228600">
                <a:tc>
                  <a:txBody>
                    <a:bodyPr/>
                    <a:lstStyle/>
                    <a:p>
                      <a:pPr algn="ctr" marL="38100" marR="38100">
                        <a:lnSpc>
                          <a:spcPct val="100000"/>
                        </a:lnSpc>
                        <a:spcBef>
                          <a:spcPts val="300"/>
                        </a:spcBef>
                        <a:spcAft>
                          <a:spcPts val="300"/>
                        </a:spcAft>
                        <a:buNone/>
                      </a:pPr>
                      <a:r>
                        <a:rPr cap="none" sz="1400" i="0" b="1" u="none" strike="noStrike">
                          <a:solidFill>
                            <a:srgbClr val="FFFFFF">
                              <a:alpha val="100000"/>
                            </a:srgbClr>
                          </a:solidFill>
                          <a:latin typeface="Arial"/>
                          <a:cs typeface="Arial"/>
                          <a:ea typeface="Arial"/>
                          <a:sym typeface="Arial"/>
                        </a:rPr>
                        <a:t>Model</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400" i="0" b="1" u="none" strike="noStrike">
                          <a:solidFill>
                            <a:srgbClr val="FFFFFF">
                              <a:alpha val="100000"/>
                            </a:srgbClr>
                          </a:solidFill>
                          <a:latin typeface="Arial"/>
                          <a:cs typeface="Arial"/>
                          <a:ea typeface="Arial"/>
                          <a:sym typeface="Arial"/>
                        </a:rPr>
                        <a:t>Significant records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400" i="0" b="1" u="none" strike="noStrike">
                          <a:solidFill>
                            <a:srgbClr val="FFFFFF">
                              <a:alpha val="100000"/>
                            </a:srgbClr>
                          </a:solidFill>
                          <a:latin typeface="Arial"/>
                          <a:cs typeface="Arial"/>
                          <a:ea typeface="Arial"/>
                          <a:sym typeface="Arial"/>
                        </a:rPr>
                        <a:t>Unique SNPs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400" i="0" b="1" u="none" strike="noStrike">
                          <a:solidFill>
                            <a:srgbClr val="FFFFFF">
                              <a:alpha val="100000"/>
                            </a:srgbClr>
                          </a:solidFill>
                          <a:latin typeface="Arial"/>
                          <a:cs typeface="Arial"/>
                          <a:ea typeface="Arial"/>
                          <a:sym typeface="Arial"/>
                        </a:rPr>
                        <a:t>MAF-supported</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400" i="0" b="1" u="none" strike="noStrike">
                          <a:solidFill>
                            <a:srgbClr val="FFFFFF">
                              <a:alpha val="100000"/>
                            </a:srgbClr>
                          </a:solidFill>
                          <a:latin typeface="Arial"/>
                          <a:cs typeface="Arial"/>
                          <a:ea typeface="Arial"/>
                          <a:sym typeface="Arial"/>
                        </a:rPr>
                        <a:t>Median λGC</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r>
              <a:tr h="228600">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FarmCPU</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89</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84</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66</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0.959</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BLINK</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53</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50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38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0.998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MLM</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39</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39</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0.992</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r>
            </a:tbl>
          </a:graphicData>
        </a:graphic>
      </p:graphicFrame>
      <p:sp>
        <p:nvSpPr>
          <p:cNvPr id="4" name=""/>
          <p:cNvSpPr>
            <a:spLocks noGrp="1"/>
          </p:cNvSpPr>
          <p:nvPr>
            <p:ph/>
          </p:nvPr>
        </p:nvSpPr>
        <p:spPr>
          <a:xfrm>
            <a:off x="7818120" y="1463040"/>
            <a:ext cx="3200400" cy="411480"/>
          </a:xfrm>
        </p:spPr>
        <p:txBody>
          <a:bodyPr/>
          <a:lstStyle/>
          <a:p>
            <a:pPr algn="l" marL="0" marR="0">
              <a:lnSpc>
                <a:spcPct val="100000"/>
              </a:lnSpc>
              <a:spcBef>
                <a:spcPts val="0"/>
              </a:spcBef>
              <a:spcAft>
                <a:spcPts val="0"/>
              </a:spcAft>
              <a:buNone/>
            </a:pPr>
            <a:r>
              <a:rPr cap="none" sz="1900" i="0" b="1" u="none" strike="noStrike">
                <a:solidFill>
                  <a:srgbClr val="18354A">
                    <a:alpha val="100000"/>
                  </a:srgbClr>
                </a:solidFill>
                <a:latin typeface="Arial"/>
                <a:cs typeface="Arial"/>
                <a:ea typeface="Arial"/>
                <a:sym typeface="Arial"/>
              </a:rPr>
              <a:t>Interpretation</a:t>
            </a:r>
          </a:p>
        </p:txBody>
      </p:sp>
      <p:sp>
        <p:nvSpPr>
          <p:cNvPr id="5" name=""/>
          <p:cNvSpPr>
            <a:spLocks noGrp="1"/>
          </p:cNvSpPr>
          <p:nvPr>
            <p:ph/>
          </p:nvPr>
        </p:nvSpPr>
        <p:spPr>
          <a:xfrm>
            <a:off x="7818120" y="1965960"/>
            <a:ext cx="3429000" cy="3200400"/>
          </a:xfrm>
        </p:spPr>
        <p:txBody>
          <a:bodyPr/>
          <a:lstStyle/>
          <a:p>
            <a:pPr algn="l" marL="0" marR="0">
              <a:lnSpc>
                <a:spcPct val="100000"/>
              </a:lnSpc>
              <a:spcBef>
                <a:spcPts val="0"/>
              </a:spcBef>
              <a:spcAft>
                <a:spcPts val="0"/>
              </a:spcAft>
              <a:buNone/>
            </a:pPr>
            <a:r>
              <a:rPr cap="none" sz="1700" i="0" b="0" u="none" strike="noStrike">
                <a:solidFill>
                  <a:srgbClr val="4D4D4D">
                    <a:alpha val="100000"/>
                  </a:srgbClr>
                </a:solidFill>
                <a:latin typeface="Arial"/>
                <a:cs typeface="Arial"/>
                <a:ea typeface="Arial"/>
                <a:sym typeface="Arial"/>
              </a:rPr>
              <a:t>• FarmCPU detected most associations.
• Median λ was close to 1 for every model.
• Cross-model recurrence is stronger evidence than model-specific detection.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Plant height under LN2024</a:t>
            </a:r>
          </a:p>
        </p:txBody>
      </p:sp>
      <p:pic>
        <p:nvPicPr>
          <p:cNvPr id="3" name="" descr=""/>
          <p:cNvPicPr>
            <a:picLocks noGrp="1"/>
          </p:cNvPicPr>
          <p:nvPr>
            <p:ph/>
          </p:nvPr>
        </p:nvPicPr>
        <p:blipFill>
          <a:blip r:embed="rId3"/>
          <a:stretch>
            <a:fillRect/>
          </a:stretch>
        </p:blipFill>
        <p:spPr>
          <a:xfrm>
            <a:off x="411480" y="1170432"/>
            <a:ext cx="7315200" cy="3977640"/>
          </a:xfrm>
          <a:prstGeom prst="rect">
            <a:avLst/>
          </a:prstGeom>
        </p:spPr>
      </p:pic>
      <p:pic>
        <p:nvPicPr>
          <p:cNvPr id="4" name="" descr=""/>
          <p:cNvPicPr>
            <a:picLocks noGrp="1"/>
          </p:cNvPicPr>
          <p:nvPr>
            <p:ph/>
          </p:nvPr>
        </p:nvPicPr>
        <p:blipFill>
          <a:blip r:embed="rId4"/>
          <a:stretch>
            <a:fillRect/>
          </a:stretch>
        </p:blipFill>
        <p:spPr>
          <a:xfrm>
            <a:off x="7955280" y="1170432"/>
            <a:ext cx="3749040" cy="3977640"/>
          </a:xfrm>
          <a:prstGeom prst="rect">
            <a:avLst/>
          </a:prstGeom>
        </p:spPr>
      </p:pic>
      <p:sp>
        <p:nvSpPr>
          <p:cNvPr id="5" name=""/>
          <p:cNvSpPr>
            <a:spLocks noGrp="1"/>
          </p:cNvSpPr>
          <p:nvPr>
            <p:ph/>
          </p:nvPr>
        </p:nvSpPr>
        <p:spPr>
          <a:xfrm>
            <a:off x="685800" y="5257800"/>
            <a:ext cx="10789920" cy="384048"/>
          </a:xfrm>
        </p:spPr>
        <p:txBody>
          <a:bodyPr/>
          <a:lstStyle/>
          <a:p>
            <a:pPr algn="ctr" marL="0" marR="0">
              <a:lnSpc>
                <a:spcPct val="100000"/>
              </a:lnSpc>
              <a:spcBef>
                <a:spcPts val="0"/>
              </a:spcBef>
              <a:spcAft>
                <a:spcPts val="0"/>
              </a:spcAft>
              <a:buNone/>
            </a:pPr>
            <a:r>
              <a:rPr cap="none" sz="1600" i="0" b="1" u="none" strike="noStrike">
                <a:solidFill>
                  <a:srgbClr val="18354A">
                    <a:alpha val="100000"/>
                  </a:srgbClr>
                </a:solidFill>
                <a:latin typeface="Arial"/>
                <a:cs typeface="Arial"/>
                <a:ea typeface="Arial"/>
                <a:sym typeface="Arial"/>
              </a:rPr>
              <a:t>Chromosome 9: 9,021,917 bp • LN2024 P = 8.97 × 10⁻²² • MAF = 0.093 • Effect = +13.30 cm</a:t>
            </a:r>
          </a:p>
        </p:txBody>
      </p:sp>
      <p:sp>
        <p:nvSpPr>
          <p:cNvPr id="6" name=""/>
          <p:cNvSpPr>
            <a:spLocks noGrp="1"/>
          </p:cNvSpPr>
          <p:nvPr>
            <p:ph/>
          </p:nvPr>
        </p:nvSpPr>
        <p:spPr>
          <a:xfrm>
            <a:off x="1051560" y="5669280"/>
            <a:ext cx="10058400" cy="384048"/>
          </a:xfrm>
        </p:spPr>
        <p:txBody>
          <a:bodyPr/>
          <a:lstStyle/>
          <a:p>
            <a:pPr algn="ctr" marL="0" marR="0">
              <a:lnSpc>
                <a:spcPct val="100000"/>
              </a:lnSpc>
              <a:spcBef>
                <a:spcPts val="0"/>
              </a:spcBef>
              <a:spcAft>
                <a:spcPts val="0"/>
              </a:spcAft>
              <a:buNone/>
            </a:pPr>
            <a:r>
              <a:rPr cap="none" sz="1500" i="0" b="1" u="none" strike="noStrike">
                <a:solidFill>
                  <a:srgbClr val="B2182B">
                    <a:alpha val="100000"/>
                  </a:srgbClr>
                </a:solidFill>
                <a:latin typeface="Arial"/>
                <a:cs typeface="Arial"/>
                <a:ea typeface="Arial"/>
                <a:sym typeface="Arial"/>
              </a:rPr>
              <a:t>Also detected under HN2024; direct overlap with THYN1/Seita.9G141300, whose functional relevance requires validation.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Allele-dosage evidence for the plant-height locus</a:t>
            </a:r>
          </a:p>
        </p:txBody>
      </p:sp>
      <p:pic>
        <p:nvPicPr>
          <p:cNvPr id="3" name="" descr=""/>
          <p:cNvPicPr>
            <a:picLocks noGrp="1"/>
          </p:cNvPicPr>
          <p:nvPr>
            <p:ph/>
          </p:nvPr>
        </p:nvPicPr>
        <p:blipFill>
          <a:blip r:embed="rId3"/>
          <a:stretch>
            <a:fillRect/>
          </a:stretch>
        </p:blipFill>
        <p:spPr>
          <a:xfrm>
            <a:off x="594360" y="1234440"/>
            <a:ext cx="6400800" cy="4800600"/>
          </a:xfrm>
          <a:prstGeom prst="rect">
            <a:avLst/>
          </a:prstGeom>
        </p:spPr>
      </p:pic>
      <p:sp>
        <p:nvSpPr>
          <p:cNvPr id="4" name=""/>
          <p:cNvSpPr>
            <a:spLocks noGrp="1"/>
          </p:cNvSpPr>
          <p:nvPr>
            <p:ph/>
          </p:nvPr>
        </p:nvSpPr>
        <p:spPr>
          <a:xfrm>
            <a:off x="7498080" y="1417320"/>
            <a:ext cx="3474720" cy="658368"/>
          </a:xfrm>
        </p:spPr>
        <p:txBody>
          <a:bodyPr/>
          <a:lstStyle/>
          <a:p>
            <a:pPr algn="ctr" marL="0" marR="0">
              <a:lnSpc>
                <a:spcPct val="100000"/>
              </a:lnSpc>
              <a:spcBef>
                <a:spcPts val="0"/>
              </a:spcBef>
              <a:spcAft>
                <a:spcPts val="0"/>
              </a:spcAft>
              <a:buNone/>
            </a:pPr>
            <a:r>
              <a:rPr cap="none" sz="3000" i="0" b="1" u="none" strike="noStrike">
                <a:solidFill>
                  <a:srgbClr val="FFFFFF">
                    <a:alpha val="100000"/>
                  </a:srgbClr>
                </a:solidFill>
                <a:latin typeface="Arial"/>
                <a:cs typeface="Arial"/>
                <a:ea typeface="Arial"/>
                <a:sym typeface="Arial"/>
              </a:rPr>
              <a:t>72</a:t>
            </a:r>
          </a:p>
        </p:txBody>
      </p:sp>
      <p:sp>
        <p:nvSpPr>
          <p:cNvPr id="5" name=""/>
          <p:cNvSpPr>
            <a:spLocks noGrp="1"/>
          </p:cNvSpPr>
          <p:nvPr>
            <p:ph/>
          </p:nvPr>
        </p:nvSpPr>
        <p:spPr>
          <a:xfrm>
            <a:off x="7498080" y="2130552"/>
            <a:ext cx="3474720" cy="594360"/>
          </a:xfrm>
        </p:spPr>
        <p:txBody>
          <a:bodyPr/>
          <a:lstStyle/>
          <a:p>
            <a:pPr algn="ctr" marL="0" marR="0">
              <a:lnSpc>
                <a:spcPct val="100000"/>
              </a:lnSpc>
              <a:spcBef>
                <a:spcPts val="0"/>
              </a:spcBef>
              <a:spcAft>
                <a:spcPts val="0"/>
              </a:spcAft>
              <a:buNone/>
            </a:pPr>
            <a:r>
              <a:rPr cap="none" sz="1300" i="0" b="1" u="none" strike="noStrike">
                <a:solidFill>
                  <a:srgbClr val="18354A">
                    <a:alpha val="100000"/>
                  </a:srgbClr>
                </a:solidFill>
                <a:latin typeface="Arial"/>
                <a:cs typeface="Arial"/>
                <a:ea typeface="Arial"/>
                <a:sym typeface="Arial"/>
              </a:rPr>
              <a:t>dosage-0 accessions</a:t>
            </a:r>
          </a:p>
        </p:txBody>
      </p:sp>
      <p:sp>
        <p:nvSpPr>
          <p:cNvPr id="6" name=""/>
          <p:cNvSpPr>
            <a:spLocks noGrp="1"/>
          </p:cNvSpPr>
          <p:nvPr>
            <p:ph/>
          </p:nvPr>
        </p:nvSpPr>
        <p:spPr>
          <a:xfrm>
            <a:off x="7498080" y="2788920"/>
            <a:ext cx="3474720" cy="658368"/>
          </a:xfrm>
        </p:spPr>
        <p:txBody>
          <a:bodyPr/>
          <a:lstStyle/>
          <a:p>
            <a:pPr algn="ctr" marL="0" marR="0">
              <a:lnSpc>
                <a:spcPct val="100000"/>
              </a:lnSpc>
              <a:spcBef>
                <a:spcPts val="0"/>
              </a:spcBef>
              <a:spcAft>
                <a:spcPts val="0"/>
              </a:spcAft>
              <a:buNone/>
            </a:pPr>
            <a:r>
              <a:rPr cap="none" sz="3000" i="0" b="1" u="none" strike="noStrike">
                <a:solidFill>
                  <a:srgbClr val="FFFFFF">
                    <a:alpha val="100000"/>
                  </a:srgbClr>
                </a:solidFill>
                <a:latin typeface="Arial"/>
                <a:cs typeface="Arial"/>
                <a:ea typeface="Arial"/>
                <a:sym typeface="Arial"/>
              </a:rPr>
              <a:t>6</a:t>
            </a:r>
          </a:p>
        </p:txBody>
      </p:sp>
      <p:sp>
        <p:nvSpPr>
          <p:cNvPr id="7" name=""/>
          <p:cNvSpPr>
            <a:spLocks noGrp="1"/>
          </p:cNvSpPr>
          <p:nvPr>
            <p:ph/>
          </p:nvPr>
        </p:nvSpPr>
        <p:spPr>
          <a:xfrm>
            <a:off x="7498080" y="3502152"/>
            <a:ext cx="3474720" cy="594360"/>
          </a:xfrm>
        </p:spPr>
        <p:txBody>
          <a:bodyPr/>
          <a:lstStyle/>
          <a:p>
            <a:pPr algn="ctr" marL="0" marR="0">
              <a:lnSpc>
                <a:spcPct val="100000"/>
              </a:lnSpc>
              <a:spcBef>
                <a:spcPts val="0"/>
              </a:spcBef>
              <a:spcAft>
                <a:spcPts val="0"/>
              </a:spcAft>
              <a:buNone/>
            </a:pPr>
            <a:r>
              <a:rPr cap="none" sz="1300" i="0" b="1" u="none" strike="noStrike">
                <a:solidFill>
                  <a:srgbClr val="18354A">
                    <a:alpha val="100000"/>
                  </a:srgbClr>
                </a:solidFill>
                <a:latin typeface="Arial"/>
                <a:cs typeface="Arial"/>
                <a:ea typeface="Arial"/>
                <a:sym typeface="Arial"/>
              </a:rPr>
              <a:t>dosage-2 accessions</a:t>
            </a:r>
          </a:p>
        </p:txBody>
      </p:sp>
      <p:sp>
        <p:nvSpPr>
          <p:cNvPr id="8" name=""/>
          <p:cNvSpPr>
            <a:spLocks noGrp="1"/>
          </p:cNvSpPr>
          <p:nvPr>
            <p:ph/>
          </p:nvPr>
        </p:nvSpPr>
        <p:spPr>
          <a:xfrm>
            <a:off x="7452360" y="4251960"/>
            <a:ext cx="3566160" cy="914400"/>
          </a:xfrm>
        </p:spPr>
        <p:txBody>
          <a:bodyPr/>
          <a:lstStyle/>
          <a:p>
            <a:pPr algn="ctr" marL="0" marR="0">
              <a:lnSpc>
                <a:spcPct val="100000"/>
              </a:lnSpc>
              <a:spcBef>
                <a:spcPts val="0"/>
              </a:spcBef>
              <a:spcAft>
                <a:spcPts val="0"/>
              </a:spcAft>
              <a:buNone/>
            </a:pPr>
            <a:r>
              <a:rPr cap="none" sz="1600" i="0" b="1" u="none" strike="noStrike">
                <a:solidFill>
                  <a:srgbClr val="B2182B">
                    <a:alpha val="100000"/>
                  </a:srgbClr>
                </a:solidFill>
                <a:latin typeface="Arial"/>
                <a:cs typeface="Arial"/>
                <a:ea typeface="Arial"/>
                <a:sym typeface="Arial"/>
              </a:rPr>
              <a:t>No dosage-1 heterozygotes observed
3 accessions had missing genotypes</a:t>
            </a:r>
          </a:p>
        </p:txBody>
      </p:sp>
      <p:sp>
        <p:nvSpPr>
          <p:cNvPr id="9" name=""/>
          <p:cNvSpPr>
            <a:spLocks noGrp="1"/>
          </p:cNvSpPr>
          <p:nvPr>
            <p:ph/>
          </p:nvPr>
        </p:nvSpPr>
        <p:spPr>
          <a:xfrm>
            <a:off x="7132320" y="5349240"/>
            <a:ext cx="4297680" cy="566928"/>
          </a:xfrm>
        </p:spPr>
        <p:txBody>
          <a:bodyPr/>
          <a:lstStyle/>
          <a:p>
            <a:pPr algn="ctr" marL="0" marR="0">
              <a:lnSpc>
                <a:spcPct val="100000"/>
              </a:lnSpc>
              <a:spcBef>
                <a:spcPts val="0"/>
              </a:spcBef>
              <a:spcAft>
                <a:spcPts val="0"/>
              </a:spcAft>
              <a:buNone/>
            </a:pPr>
            <a:r>
              <a:rPr cap="none" sz="1400" i="0" b="0" u="none" strike="noStrike">
                <a:solidFill>
                  <a:srgbClr val="4D4D4D">
                    <a:alpha val="100000"/>
                  </a:srgbClr>
                </a:solidFill>
                <a:latin typeface="Arial"/>
                <a:cs typeface="Arial"/>
                <a:ea typeface="Arial"/>
                <a:sym typeface="Arial"/>
              </a:rPr>
              <a:t>Dosage 0 = reference homozygote; dosage 2 = alternate homozygote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Complete allele-dosage example: days to harvest under LN2024</a:t>
            </a:r>
          </a:p>
        </p:txBody>
      </p:sp>
      <p:pic>
        <p:nvPicPr>
          <p:cNvPr id="3" name="" descr=""/>
          <p:cNvPicPr>
            <a:picLocks noGrp="1"/>
          </p:cNvPicPr>
          <p:nvPr>
            <p:ph/>
          </p:nvPr>
        </p:nvPicPr>
        <p:blipFill>
          <a:blip r:embed="rId3"/>
          <a:stretch>
            <a:fillRect/>
          </a:stretch>
        </p:blipFill>
        <p:spPr>
          <a:xfrm>
            <a:off x="502920" y="1234440"/>
            <a:ext cx="6537960" cy="4800600"/>
          </a:xfrm>
          <a:prstGeom prst="rect">
            <a:avLst/>
          </a:prstGeom>
        </p:spPr>
      </p:pic>
      <p:graphicFrame>
        <p:nvGraphicFramePr>
          <p:cNvPr id="4" name=""/>
          <p:cNvGraphicFramePr>
            <a:graphicFrameLocks noGrp="true"/>
          </p:cNvGraphicFramePr>
          <p:nvPr/>
        </p:nvGraphicFramePr>
        <p:xfrm rot="0">
          <a:off x="7269480" y="1417320"/>
          <a:ext cx="4343400" cy="2560320"/>
        </p:xfrm>
        <a:graphic>
          <a:graphicData uri="http://schemas.openxmlformats.org/drawingml/2006/table">
            <a:tbl>
              <a:tblPr/>
              <a:tblGrid>
                <a:gridCol w="594360"/>
                <a:gridCol w="1691640"/>
                <a:gridCol w="777240"/>
                <a:gridCol w="1143000"/>
              </a:tblGrid>
              <a:tr h="228600">
                <a:tc>
                  <a:txBody>
                    <a:bodyPr/>
                    <a:lstStyle/>
                    <a:p>
                      <a:pPr algn="ctr" marL="38100" marR="38100">
                        <a:lnSpc>
                          <a:spcPct val="100000"/>
                        </a:lnSpc>
                        <a:spcBef>
                          <a:spcPts val="300"/>
                        </a:spcBef>
                        <a:spcAft>
                          <a:spcPts val="300"/>
                        </a:spcAft>
                        <a:buNone/>
                      </a:pPr>
                      <a:r>
                        <a:rPr cap="none" sz="1100" i="0" b="1" u="none" strike="noStrike">
                          <a:solidFill>
                            <a:srgbClr val="FFFFFF">
                              <a:alpha val="100000"/>
                            </a:srgbClr>
                          </a:solidFill>
                          <a:latin typeface="Arial"/>
                          <a:cs typeface="Arial"/>
                          <a:ea typeface="Arial"/>
                          <a:sym typeface="Arial"/>
                        </a:rPr>
                        <a:t>Dosage</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100" i="0" b="1" u="none" strike="noStrike">
                          <a:solidFill>
                            <a:srgbClr val="FFFFFF">
                              <a:alpha val="100000"/>
                            </a:srgbClr>
                          </a:solidFill>
                          <a:latin typeface="Arial"/>
                          <a:cs typeface="Arial"/>
                          <a:ea typeface="Arial"/>
                          <a:sym typeface="Arial"/>
                        </a:rPr>
                        <a:t>Interpretation</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100" i="0" b="1" u="none" strike="noStrike">
                          <a:solidFill>
                            <a:srgbClr val="FFFFFF">
                              <a:alpha val="100000"/>
                            </a:srgbClr>
                          </a:solidFill>
                          <a:latin typeface="Arial"/>
                          <a:cs typeface="Arial"/>
                          <a:ea typeface="Arial"/>
                          <a:sym typeface="Arial"/>
                        </a:rPr>
                        <a:t>Accessions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100" i="0" b="1" u="none" strike="noStrike">
                          <a:solidFill>
                            <a:srgbClr val="FFFFFF">
                              <a:alpha val="100000"/>
                            </a:srgbClr>
                          </a:solidFill>
                          <a:latin typeface="Arial"/>
                          <a:cs typeface="Arial"/>
                          <a:ea typeface="Arial"/>
                          <a:sym typeface="Arial"/>
                        </a:rPr>
                        <a:t>Mean days to harvest</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Reference homozygote</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19</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171.99</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Heterozygote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52</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164.60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2</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Alternative homozygote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9</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161.18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r>
            </a:tbl>
          </a:graphicData>
        </a:graphic>
      </p:graphicFrame>
      <p:sp>
        <p:nvSpPr>
          <p:cNvPr id="5" name=""/>
          <p:cNvSpPr>
            <a:spLocks noGrp="1"/>
          </p:cNvSpPr>
          <p:nvPr>
            <p:ph/>
          </p:nvPr>
        </p:nvSpPr>
        <p:spPr>
          <a:xfrm>
            <a:off x="7452360" y="4251960"/>
            <a:ext cx="3931920" cy="384048"/>
          </a:xfrm>
        </p:spPr>
        <p:txBody>
          <a:bodyPr/>
          <a:lstStyle/>
          <a:p>
            <a:pPr algn="ctr" marL="0" marR="0">
              <a:lnSpc>
                <a:spcPct val="100000"/>
              </a:lnSpc>
              <a:spcBef>
                <a:spcPts val="0"/>
              </a:spcBef>
              <a:spcAft>
                <a:spcPts val="0"/>
              </a:spcAft>
              <a:buNone/>
            </a:pPr>
            <a:r>
              <a:rPr cap="none" sz="1600" i="0" b="1" u="none" strike="noStrike">
                <a:solidFill>
                  <a:srgbClr val="18354A">
                    <a:alpha val="100000"/>
                  </a:srgbClr>
                </a:solidFill>
                <a:latin typeface="Arial"/>
                <a:cs typeface="Arial"/>
                <a:ea typeface="Arial"/>
                <a:sym typeface="Arial"/>
              </a:rPr>
              <a:t>Chromosome 2: 14,229,303 bp</a:t>
            </a:r>
          </a:p>
        </p:txBody>
      </p:sp>
      <p:sp>
        <p:nvSpPr>
          <p:cNvPr id="6" name=""/>
          <p:cNvSpPr>
            <a:spLocks noGrp="1"/>
          </p:cNvSpPr>
          <p:nvPr>
            <p:ph/>
          </p:nvPr>
        </p:nvSpPr>
        <p:spPr>
          <a:xfrm>
            <a:off x="7360920" y="4709160"/>
            <a:ext cx="4114800" cy="384048"/>
          </a:xfrm>
        </p:spPr>
        <p:txBody>
          <a:bodyPr/>
          <a:lstStyle/>
          <a:p>
            <a:pPr algn="ctr" marL="0" marR="0">
              <a:lnSpc>
                <a:spcPct val="100000"/>
              </a:lnSpc>
              <a:spcBef>
                <a:spcPts val="0"/>
              </a:spcBef>
              <a:spcAft>
                <a:spcPts val="0"/>
              </a:spcAft>
              <a:buNone/>
            </a:pPr>
            <a:r>
              <a:rPr cap="none" sz="1500" i="0" b="1" u="none" strike="noStrike">
                <a:solidFill>
                  <a:srgbClr val="B2182B">
                    <a:alpha val="100000"/>
                  </a:srgbClr>
                </a:solidFill>
                <a:latin typeface="Arial"/>
                <a:cs typeface="Arial"/>
                <a:ea typeface="Arial"/>
                <a:sym typeface="Arial"/>
              </a:rPr>
              <a:t>GWAS P = 2.08 × 10⁻¹² • MAF = 0.4375</a:t>
            </a:r>
          </a:p>
        </p:txBody>
      </p:sp>
      <p:sp>
        <p:nvSpPr>
          <p:cNvPr id="7" name=""/>
          <p:cNvSpPr>
            <a:spLocks noGrp="1"/>
          </p:cNvSpPr>
          <p:nvPr>
            <p:ph/>
          </p:nvPr>
        </p:nvSpPr>
        <p:spPr>
          <a:xfrm>
            <a:off x="7360920" y="5230368"/>
            <a:ext cx="4114800" cy="384048"/>
          </a:xfrm>
        </p:spPr>
        <p:txBody>
          <a:bodyPr/>
          <a:lstStyle/>
          <a:p>
            <a:pPr algn="ctr" marL="0" marR="0">
              <a:lnSpc>
                <a:spcPct val="100000"/>
              </a:lnSpc>
              <a:spcBef>
                <a:spcPts val="0"/>
              </a:spcBef>
              <a:spcAft>
                <a:spcPts val="0"/>
              </a:spcAft>
              <a:buNone/>
            </a:pPr>
            <a:r>
              <a:rPr cap="none" sz="1400" i="0" b="1" u="none" strike="noStrike">
                <a:solidFill>
                  <a:srgbClr val="4D4D4D">
                    <a:alpha val="100000"/>
                  </a:srgbClr>
                </a:solidFill>
                <a:latin typeface="Arial"/>
                <a:cs typeface="Arial"/>
                <a:ea typeface="Arial"/>
                <a:sym typeface="Arial"/>
              </a:rPr>
              <a:t>All three dosage classes are represented.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Number of tillers under LN2024</a:t>
            </a:r>
          </a:p>
        </p:txBody>
      </p:sp>
      <p:pic>
        <p:nvPicPr>
          <p:cNvPr id="3" name="" descr=""/>
          <p:cNvPicPr>
            <a:picLocks noGrp="1"/>
          </p:cNvPicPr>
          <p:nvPr>
            <p:ph/>
          </p:nvPr>
        </p:nvPicPr>
        <p:blipFill>
          <a:blip r:embed="rId3"/>
          <a:stretch>
            <a:fillRect/>
          </a:stretch>
        </p:blipFill>
        <p:spPr>
          <a:xfrm>
            <a:off x="411480" y="1188720"/>
            <a:ext cx="7315200" cy="4069080"/>
          </a:xfrm>
          <a:prstGeom prst="rect">
            <a:avLst/>
          </a:prstGeom>
        </p:spPr>
      </p:pic>
      <p:pic>
        <p:nvPicPr>
          <p:cNvPr id="4" name="" descr=""/>
          <p:cNvPicPr>
            <a:picLocks noGrp="1"/>
          </p:cNvPicPr>
          <p:nvPr>
            <p:ph/>
          </p:nvPr>
        </p:nvPicPr>
        <p:blipFill>
          <a:blip r:embed="rId4"/>
          <a:stretch>
            <a:fillRect/>
          </a:stretch>
        </p:blipFill>
        <p:spPr>
          <a:xfrm>
            <a:off x="7955280" y="1188720"/>
            <a:ext cx="3749040" cy="4069080"/>
          </a:xfrm>
          <a:prstGeom prst="rect">
            <a:avLst/>
          </a:prstGeom>
        </p:spPr>
      </p:pic>
      <p:sp>
        <p:nvSpPr>
          <p:cNvPr id="5" name=""/>
          <p:cNvSpPr>
            <a:spLocks noGrp="1"/>
          </p:cNvSpPr>
          <p:nvPr>
            <p:ph/>
          </p:nvPr>
        </p:nvSpPr>
        <p:spPr>
          <a:xfrm>
            <a:off x="502920" y="5330952"/>
            <a:ext cx="11155680" cy="365760"/>
          </a:xfrm>
        </p:spPr>
        <p:txBody>
          <a:bodyPr/>
          <a:lstStyle/>
          <a:p>
            <a:pPr algn="ctr" marL="0" marR="0">
              <a:lnSpc>
                <a:spcPct val="100000"/>
              </a:lnSpc>
              <a:spcBef>
                <a:spcPts val="0"/>
              </a:spcBef>
              <a:spcAft>
                <a:spcPts val="0"/>
              </a:spcAft>
              <a:buNone/>
            </a:pPr>
            <a:r>
              <a:rPr cap="none" sz="1400" i="0" b="1" u="none" strike="noStrike">
                <a:solidFill>
                  <a:srgbClr val="18354A">
                    <a:alpha val="100000"/>
                  </a:srgbClr>
                </a:solidFill>
                <a:latin typeface="Arial"/>
                <a:cs typeface="Arial"/>
                <a:ea typeface="Arial"/>
                <a:sym typeface="Arial"/>
              </a:rPr>
              <a:t>FarmCPU • n = 81 • 28 significant records • 27 unique SNPs • 8 MAF-supported unique SNPs</a:t>
            </a:r>
          </a:p>
        </p:txBody>
      </p:sp>
      <p:sp>
        <p:nvSpPr>
          <p:cNvPr id="6" name=""/>
          <p:cNvSpPr>
            <a:spLocks noGrp="1"/>
          </p:cNvSpPr>
          <p:nvPr>
            <p:ph/>
          </p:nvPr>
        </p:nvSpPr>
        <p:spPr>
          <a:xfrm>
            <a:off x="1097280" y="5733288"/>
            <a:ext cx="9966960" cy="347472"/>
          </a:xfrm>
        </p:spPr>
        <p:txBody>
          <a:bodyPr/>
          <a:lstStyle/>
          <a:p>
            <a:pPr algn="ctr" marL="0" marR="0">
              <a:lnSpc>
                <a:spcPct val="100000"/>
              </a:lnSpc>
              <a:spcBef>
                <a:spcPts val="0"/>
              </a:spcBef>
              <a:spcAft>
                <a:spcPts val="0"/>
              </a:spcAft>
              <a:buNone/>
            </a:pPr>
            <a:r>
              <a:rPr cap="none" sz="1400" i="0" b="1" u="none" strike="noStrike">
                <a:solidFill>
                  <a:srgbClr val="B2182B">
                    <a:alpha val="100000"/>
                  </a:srgbClr>
                </a:solidFill>
                <a:latin typeface="Arial"/>
                <a:cs typeface="Arial"/>
                <a:ea typeface="Arial"/>
                <a:sym typeface="Arial"/>
              </a:rPr>
              <a:t>Top signal: Chromosome 6 at 32,361,467 bp • P = 5.35 × 10⁻¹⁹</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Days to flowering in LN2023</a:t>
            </a:r>
          </a:p>
        </p:txBody>
      </p:sp>
      <p:pic>
        <p:nvPicPr>
          <p:cNvPr id="3" name="" descr=""/>
          <p:cNvPicPr>
            <a:picLocks noGrp="1"/>
          </p:cNvPicPr>
          <p:nvPr>
            <p:ph/>
          </p:nvPr>
        </p:nvPicPr>
        <p:blipFill>
          <a:blip r:embed="rId3"/>
          <a:stretch>
            <a:fillRect/>
          </a:stretch>
        </p:blipFill>
        <p:spPr>
          <a:xfrm>
            <a:off x="411480" y="1188720"/>
            <a:ext cx="7315200" cy="4069080"/>
          </a:xfrm>
          <a:prstGeom prst="rect">
            <a:avLst/>
          </a:prstGeom>
        </p:spPr>
      </p:pic>
      <p:pic>
        <p:nvPicPr>
          <p:cNvPr id="4" name="" descr=""/>
          <p:cNvPicPr>
            <a:picLocks noGrp="1"/>
          </p:cNvPicPr>
          <p:nvPr>
            <p:ph/>
          </p:nvPr>
        </p:nvPicPr>
        <p:blipFill>
          <a:blip r:embed="rId4"/>
          <a:stretch>
            <a:fillRect/>
          </a:stretch>
        </p:blipFill>
        <p:spPr>
          <a:xfrm>
            <a:off x="7955280" y="1188720"/>
            <a:ext cx="3749040" cy="4069080"/>
          </a:xfrm>
          <a:prstGeom prst="rect">
            <a:avLst/>
          </a:prstGeom>
        </p:spPr>
      </p:pic>
      <p:sp>
        <p:nvSpPr>
          <p:cNvPr id="5" name=""/>
          <p:cNvSpPr>
            <a:spLocks noGrp="1"/>
          </p:cNvSpPr>
          <p:nvPr>
            <p:ph/>
          </p:nvPr>
        </p:nvSpPr>
        <p:spPr>
          <a:xfrm>
            <a:off x="502920" y="5330952"/>
            <a:ext cx="11155680" cy="365760"/>
          </a:xfrm>
        </p:spPr>
        <p:txBody>
          <a:bodyPr/>
          <a:lstStyle/>
          <a:p>
            <a:pPr algn="ctr" marL="0" marR="0">
              <a:lnSpc>
                <a:spcPct val="100000"/>
              </a:lnSpc>
              <a:spcBef>
                <a:spcPts val="0"/>
              </a:spcBef>
              <a:spcAft>
                <a:spcPts val="0"/>
              </a:spcAft>
              <a:buNone/>
            </a:pPr>
            <a:r>
              <a:rPr cap="none" sz="1400" i="0" b="1" u="none" strike="noStrike">
                <a:solidFill>
                  <a:srgbClr val="18354A">
                    <a:alpha val="100000"/>
                  </a:srgbClr>
                </a:solidFill>
                <a:latin typeface="Arial"/>
                <a:cs typeface="Arial"/>
                <a:ea typeface="Arial"/>
                <a:sym typeface="Arial"/>
              </a:rPr>
              <a:t>FarmCPU • n = 125 • 14 significant records • 13 unique SNPs • 12 MAF-supported unique SNPs</a:t>
            </a:r>
          </a:p>
        </p:txBody>
      </p:sp>
      <p:sp>
        <p:nvSpPr>
          <p:cNvPr id="6" name=""/>
          <p:cNvSpPr>
            <a:spLocks noGrp="1"/>
          </p:cNvSpPr>
          <p:nvPr>
            <p:ph/>
          </p:nvPr>
        </p:nvSpPr>
        <p:spPr>
          <a:xfrm>
            <a:off x="1097280" y="5733288"/>
            <a:ext cx="9966960" cy="347472"/>
          </a:xfrm>
        </p:spPr>
        <p:txBody>
          <a:bodyPr/>
          <a:lstStyle/>
          <a:p>
            <a:pPr algn="ctr" marL="0" marR="0">
              <a:lnSpc>
                <a:spcPct val="100000"/>
              </a:lnSpc>
              <a:spcBef>
                <a:spcPts val="0"/>
              </a:spcBef>
              <a:spcAft>
                <a:spcPts val="0"/>
              </a:spcAft>
              <a:buNone/>
            </a:pPr>
            <a:r>
              <a:rPr cap="none" sz="1400" i="0" b="1" u="none" strike="noStrike">
                <a:solidFill>
                  <a:srgbClr val="B2182B">
                    <a:alpha val="100000"/>
                  </a:srgbClr>
                </a:solidFill>
                <a:latin typeface="Arial"/>
                <a:cs typeface="Arial"/>
                <a:ea typeface="Arial"/>
                <a:sym typeface="Arial"/>
              </a:rPr>
              <a:t>Top signal: Chromosome 7 at 17,136,277 bp • P = 2.66 × 10⁻²³</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Days to harvest under LN2024</a:t>
            </a:r>
          </a:p>
        </p:txBody>
      </p:sp>
      <p:pic>
        <p:nvPicPr>
          <p:cNvPr id="3" name="" descr=""/>
          <p:cNvPicPr>
            <a:picLocks noGrp="1"/>
          </p:cNvPicPr>
          <p:nvPr>
            <p:ph/>
          </p:nvPr>
        </p:nvPicPr>
        <p:blipFill>
          <a:blip r:embed="rId3"/>
          <a:stretch>
            <a:fillRect/>
          </a:stretch>
        </p:blipFill>
        <p:spPr>
          <a:xfrm>
            <a:off x="411480" y="1188720"/>
            <a:ext cx="7315200" cy="4069080"/>
          </a:xfrm>
          <a:prstGeom prst="rect">
            <a:avLst/>
          </a:prstGeom>
        </p:spPr>
      </p:pic>
      <p:pic>
        <p:nvPicPr>
          <p:cNvPr id="4" name="" descr=""/>
          <p:cNvPicPr>
            <a:picLocks noGrp="1"/>
          </p:cNvPicPr>
          <p:nvPr>
            <p:ph/>
          </p:nvPr>
        </p:nvPicPr>
        <p:blipFill>
          <a:blip r:embed="rId4"/>
          <a:stretch>
            <a:fillRect/>
          </a:stretch>
        </p:blipFill>
        <p:spPr>
          <a:xfrm>
            <a:off x="7955280" y="1188720"/>
            <a:ext cx="3749040" cy="4069080"/>
          </a:xfrm>
          <a:prstGeom prst="rect">
            <a:avLst/>
          </a:prstGeom>
        </p:spPr>
      </p:pic>
      <p:sp>
        <p:nvSpPr>
          <p:cNvPr id="5" name=""/>
          <p:cNvSpPr>
            <a:spLocks noGrp="1"/>
          </p:cNvSpPr>
          <p:nvPr>
            <p:ph/>
          </p:nvPr>
        </p:nvSpPr>
        <p:spPr>
          <a:xfrm>
            <a:off x="502920" y="5330952"/>
            <a:ext cx="11155680" cy="365760"/>
          </a:xfrm>
        </p:spPr>
        <p:txBody>
          <a:bodyPr/>
          <a:lstStyle/>
          <a:p>
            <a:pPr algn="ctr" marL="0" marR="0">
              <a:lnSpc>
                <a:spcPct val="100000"/>
              </a:lnSpc>
              <a:spcBef>
                <a:spcPts val="0"/>
              </a:spcBef>
              <a:spcAft>
                <a:spcPts val="0"/>
              </a:spcAft>
              <a:buNone/>
            </a:pPr>
            <a:r>
              <a:rPr cap="none" sz="1400" i="0" b="1" u="none" strike="noStrike">
                <a:solidFill>
                  <a:srgbClr val="18354A">
                    <a:alpha val="100000"/>
                  </a:srgbClr>
                </a:solidFill>
                <a:latin typeface="Arial"/>
                <a:cs typeface="Arial"/>
                <a:ea typeface="Arial"/>
                <a:sym typeface="Arial"/>
              </a:rPr>
              <a:t>FarmCPU • n = 80 • 7 significant records • 7 unique and MAF-supported SNPs</a:t>
            </a:r>
          </a:p>
        </p:txBody>
      </p:sp>
      <p:sp>
        <p:nvSpPr>
          <p:cNvPr id="6" name=""/>
          <p:cNvSpPr>
            <a:spLocks noGrp="1"/>
          </p:cNvSpPr>
          <p:nvPr>
            <p:ph/>
          </p:nvPr>
        </p:nvSpPr>
        <p:spPr>
          <a:xfrm>
            <a:off x="1097280" y="5733288"/>
            <a:ext cx="9966960" cy="347472"/>
          </a:xfrm>
        </p:spPr>
        <p:txBody>
          <a:bodyPr/>
          <a:lstStyle/>
          <a:p>
            <a:pPr algn="ctr" marL="0" marR="0">
              <a:lnSpc>
                <a:spcPct val="100000"/>
              </a:lnSpc>
              <a:spcBef>
                <a:spcPts val="0"/>
              </a:spcBef>
              <a:spcAft>
                <a:spcPts val="0"/>
              </a:spcAft>
              <a:buNone/>
            </a:pPr>
            <a:r>
              <a:rPr cap="none" sz="1400" i="0" b="1" u="none" strike="noStrike">
                <a:solidFill>
                  <a:srgbClr val="B2182B">
                    <a:alpha val="100000"/>
                  </a:srgbClr>
                </a:solidFill>
                <a:latin typeface="Arial"/>
                <a:cs typeface="Arial"/>
                <a:ea typeface="Arial"/>
                <a:sym typeface="Arial"/>
              </a:rPr>
              <a:t>Top signal: Chromosome 7 at 2,121,353 bp • P = 1.07 × 10⁻³¹</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Panicle length in LN2023</a:t>
            </a:r>
          </a:p>
        </p:txBody>
      </p:sp>
      <p:pic>
        <p:nvPicPr>
          <p:cNvPr id="3" name="" descr=""/>
          <p:cNvPicPr>
            <a:picLocks noGrp="1"/>
          </p:cNvPicPr>
          <p:nvPr>
            <p:ph/>
          </p:nvPr>
        </p:nvPicPr>
        <p:blipFill>
          <a:blip r:embed="rId3"/>
          <a:stretch>
            <a:fillRect/>
          </a:stretch>
        </p:blipFill>
        <p:spPr>
          <a:xfrm>
            <a:off x="411480" y="1188720"/>
            <a:ext cx="7315200" cy="4069080"/>
          </a:xfrm>
          <a:prstGeom prst="rect">
            <a:avLst/>
          </a:prstGeom>
        </p:spPr>
      </p:pic>
      <p:pic>
        <p:nvPicPr>
          <p:cNvPr id="4" name="" descr=""/>
          <p:cNvPicPr>
            <a:picLocks noGrp="1"/>
          </p:cNvPicPr>
          <p:nvPr>
            <p:ph/>
          </p:nvPr>
        </p:nvPicPr>
        <p:blipFill>
          <a:blip r:embed="rId4"/>
          <a:stretch>
            <a:fillRect/>
          </a:stretch>
        </p:blipFill>
        <p:spPr>
          <a:xfrm>
            <a:off x="7955280" y="1188720"/>
            <a:ext cx="3749040" cy="4069080"/>
          </a:xfrm>
          <a:prstGeom prst="rect">
            <a:avLst/>
          </a:prstGeom>
        </p:spPr>
      </p:pic>
      <p:sp>
        <p:nvSpPr>
          <p:cNvPr id="5" name=""/>
          <p:cNvSpPr>
            <a:spLocks noGrp="1"/>
          </p:cNvSpPr>
          <p:nvPr>
            <p:ph/>
          </p:nvPr>
        </p:nvSpPr>
        <p:spPr>
          <a:xfrm>
            <a:off x="502920" y="5330952"/>
            <a:ext cx="11155680" cy="365760"/>
          </a:xfrm>
        </p:spPr>
        <p:txBody>
          <a:bodyPr/>
          <a:lstStyle/>
          <a:p>
            <a:pPr algn="ctr" marL="0" marR="0">
              <a:lnSpc>
                <a:spcPct val="100000"/>
              </a:lnSpc>
              <a:spcBef>
                <a:spcPts val="0"/>
              </a:spcBef>
              <a:spcAft>
                <a:spcPts val="0"/>
              </a:spcAft>
              <a:buNone/>
            </a:pPr>
            <a:r>
              <a:rPr cap="none" sz="1400" i="0" b="1" u="none" strike="noStrike">
                <a:solidFill>
                  <a:srgbClr val="18354A">
                    <a:alpha val="100000"/>
                  </a:srgbClr>
                </a:solidFill>
                <a:latin typeface="Arial"/>
                <a:cs typeface="Arial"/>
                <a:ea typeface="Arial"/>
                <a:sym typeface="Arial"/>
              </a:rPr>
              <a:t>BLINK • n = 93 • 11 significant records • 11 unique and MAF-supported SNPs</a:t>
            </a:r>
          </a:p>
        </p:txBody>
      </p:sp>
      <p:sp>
        <p:nvSpPr>
          <p:cNvPr id="6" name=""/>
          <p:cNvSpPr>
            <a:spLocks noGrp="1"/>
          </p:cNvSpPr>
          <p:nvPr>
            <p:ph/>
          </p:nvPr>
        </p:nvSpPr>
        <p:spPr>
          <a:xfrm>
            <a:off x="1097280" y="5733288"/>
            <a:ext cx="9966960" cy="347472"/>
          </a:xfrm>
        </p:spPr>
        <p:txBody>
          <a:bodyPr/>
          <a:lstStyle/>
          <a:p>
            <a:pPr algn="ctr" marL="0" marR="0">
              <a:lnSpc>
                <a:spcPct val="100000"/>
              </a:lnSpc>
              <a:spcBef>
                <a:spcPts val="0"/>
              </a:spcBef>
              <a:spcAft>
                <a:spcPts val="0"/>
              </a:spcAft>
              <a:buNone/>
            </a:pPr>
            <a:r>
              <a:rPr cap="none" sz="1400" i="0" b="1" u="none" strike="noStrike">
                <a:solidFill>
                  <a:srgbClr val="B2182B">
                    <a:alpha val="100000"/>
                  </a:srgbClr>
                </a:solidFill>
                <a:latin typeface="Arial"/>
                <a:cs typeface="Arial"/>
                <a:ea typeface="Arial"/>
                <a:sym typeface="Arial"/>
              </a:rPr>
              <a:t>Top signal: Chromosome 3 at 47,440,311 bp • P = 3.90 × 10⁻¹⁵</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Pedicel length in LN2023</a:t>
            </a:r>
          </a:p>
        </p:txBody>
      </p:sp>
      <p:pic>
        <p:nvPicPr>
          <p:cNvPr id="3" name="" descr=""/>
          <p:cNvPicPr>
            <a:picLocks noGrp="1"/>
          </p:cNvPicPr>
          <p:nvPr>
            <p:ph/>
          </p:nvPr>
        </p:nvPicPr>
        <p:blipFill>
          <a:blip r:embed="rId3"/>
          <a:stretch>
            <a:fillRect/>
          </a:stretch>
        </p:blipFill>
        <p:spPr>
          <a:xfrm>
            <a:off x="411480" y="1188720"/>
            <a:ext cx="7315200" cy="4069080"/>
          </a:xfrm>
          <a:prstGeom prst="rect">
            <a:avLst/>
          </a:prstGeom>
        </p:spPr>
      </p:pic>
      <p:pic>
        <p:nvPicPr>
          <p:cNvPr id="4" name="" descr=""/>
          <p:cNvPicPr>
            <a:picLocks noGrp="1"/>
          </p:cNvPicPr>
          <p:nvPr>
            <p:ph/>
          </p:nvPr>
        </p:nvPicPr>
        <p:blipFill>
          <a:blip r:embed="rId4"/>
          <a:stretch>
            <a:fillRect/>
          </a:stretch>
        </p:blipFill>
        <p:spPr>
          <a:xfrm>
            <a:off x="7955280" y="1188720"/>
            <a:ext cx="3749040" cy="4069080"/>
          </a:xfrm>
          <a:prstGeom prst="rect">
            <a:avLst/>
          </a:prstGeom>
        </p:spPr>
      </p:pic>
      <p:sp>
        <p:nvSpPr>
          <p:cNvPr id="5" name=""/>
          <p:cNvSpPr>
            <a:spLocks noGrp="1"/>
          </p:cNvSpPr>
          <p:nvPr>
            <p:ph/>
          </p:nvPr>
        </p:nvSpPr>
        <p:spPr>
          <a:xfrm>
            <a:off x="502920" y="5330952"/>
            <a:ext cx="11155680" cy="365760"/>
          </a:xfrm>
        </p:spPr>
        <p:txBody>
          <a:bodyPr/>
          <a:lstStyle/>
          <a:p>
            <a:pPr algn="ctr" marL="0" marR="0">
              <a:lnSpc>
                <a:spcPct val="100000"/>
              </a:lnSpc>
              <a:spcBef>
                <a:spcPts val="0"/>
              </a:spcBef>
              <a:spcAft>
                <a:spcPts val="0"/>
              </a:spcAft>
              <a:buNone/>
            </a:pPr>
            <a:r>
              <a:rPr cap="none" sz="1400" i="0" b="1" u="none" strike="noStrike">
                <a:solidFill>
                  <a:srgbClr val="18354A">
                    <a:alpha val="100000"/>
                  </a:srgbClr>
                </a:solidFill>
                <a:latin typeface="Arial"/>
                <a:cs typeface="Arial"/>
                <a:ea typeface="Arial"/>
                <a:sym typeface="Arial"/>
              </a:rPr>
              <a:t>BLINK • n = 93 • 17 significant records • 17 unique SNPs • 7 MAF-supported unique SNPs</a:t>
            </a:r>
          </a:p>
        </p:txBody>
      </p:sp>
      <p:sp>
        <p:nvSpPr>
          <p:cNvPr id="6" name=""/>
          <p:cNvSpPr>
            <a:spLocks noGrp="1"/>
          </p:cNvSpPr>
          <p:nvPr>
            <p:ph/>
          </p:nvPr>
        </p:nvSpPr>
        <p:spPr>
          <a:xfrm>
            <a:off x="1097280" y="5733288"/>
            <a:ext cx="9966960" cy="347472"/>
          </a:xfrm>
        </p:spPr>
        <p:txBody>
          <a:bodyPr/>
          <a:lstStyle/>
          <a:p>
            <a:pPr algn="ctr" marL="0" marR="0">
              <a:lnSpc>
                <a:spcPct val="100000"/>
              </a:lnSpc>
              <a:spcBef>
                <a:spcPts val="0"/>
              </a:spcBef>
              <a:spcAft>
                <a:spcPts val="0"/>
              </a:spcAft>
              <a:buNone/>
            </a:pPr>
            <a:r>
              <a:rPr cap="none" sz="1400" i="0" b="1" u="none" strike="noStrike">
                <a:solidFill>
                  <a:srgbClr val="B2182B">
                    <a:alpha val="100000"/>
                  </a:srgbClr>
                </a:solidFill>
                <a:latin typeface="Arial"/>
                <a:cs typeface="Arial"/>
                <a:ea typeface="Arial"/>
                <a:sym typeface="Arial"/>
              </a:rPr>
              <a:t>Top signal: Chromosome 8 at 10,301,084 bp • P = 9.14 × 10⁻¹²</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Seed protein under HN2024</a:t>
            </a:r>
          </a:p>
        </p:txBody>
      </p:sp>
      <p:pic>
        <p:nvPicPr>
          <p:cNvPr id="3" name="" descr=""/>
          <p:cNvPicPr>
            <a:picLocks noGrp="1"/>
          </p:cNvPicPr>
          <p:nvPr>
            <p:ph/>
          </p:nvPr>
        </p:nvPicPr>
        <p:blipFill>
          <a:blip r:embed="rId3"/>
          <a:stretch>
            <a:fillRect/>
          </a:stretch>
        </p:blipFill>
        <p:spPr>
          <a:xfrm>
            <a:off x="411480" y="1188720"/>
            <a:ext cx="7315200" cy="4069080"/>
          </a:xfrm>
          <a:prstGeom prst="rect">
            <a:avLst/>
          </a:prstGeom>
        </p:spPr>
      </p:pic>
      <p:pic>
        <p:nvPicPr>
          <p:cNvPr id="4" name="" descr=""/>
          <p:cNvPicPr>
            <a:picLocks noGrp="1"/>
          </p:cNvPicPr>
          <p:nvPr>
            <p:ph/>
          </p:nvPr>
        </p:nvPicPr>
        <p:blipFill>
          <a:blip r:embed="rId4"/>
          <a:stretch>
            <a:fillRect/>
          </a:stretch>
        </p:blipFill>
        <p:spPr>
          <a:xfrm>
            <a:off x="7955280" y="1188720"/>
            <a:ext cx="3749040" cy="4069080"/>
          </a:xfrm>
          <a:prstGeom prst="rect">
            <a:avLst/>
          </a:prstGeom>
        </p:spPr>
      </p:pic>
      <p:sp>
        <p:nvSpPr>
          <p:cNvPr id="5" name=""/>
          <p:cNvSpPr>
            <a:spLocks noGrp="1"/>
          </p:cNvSpPr>
          <p:nvPr>
            <p:ph/>
          </p:nvPr>
        </p:nvSpPr>
        <p:spPr>
          <a:xfrm>
            <a:off x="502920" y="5330952"/>
            <a:ext cx="11155680" cy="365760"/>
          </a:xfrm>
        </p:spPr>
        <p:txBody>
          <a:bodyPr/>
          <a:lstStyle/>
          <a:p>
            <a:pPr algn="ctr" marL="0" marR="0">
              <a:lnSpc>
                <a:spcPct val="100000"/>
              </a:lnSpc>
              <a:spcBef>
                <a:spcPts val="0"/>
              </a:spcBef>
              <a:spcAft>
                <a:spcPts val="0"/>
              </a:spcAft>
              <a:buNone/>
            </a:pPr>
            <a:r>
              <a:rPr cap="none" sz="1400" i="0" b="1" u="none" strike="noStrike">
                <a:solidFill>
                  <a:srgbClr val="18354A">
                    <a:alpha val="100000"/>
                  </a:srgbClr>
                </a:solidFill>
                <a:latin typeface="Arial"/>
                <a:cs typeface="Arial"/>
                <a:ea typeface="Arial"/>
                <a:sym typeface="Arial"/>
              </a:rPr>
              <a:t>FarmCPU • n = 67 • 11 significant records • 10 unique SNPs • 8 MAF-supported unique SNPs</a:t>
            </a:r>
          </a:p>
        </p:txBody>
      </p:sp>
      <p:sp>
        <p:nvSpPr>
          <p:cNvPr id="6" name=""/>
          <p:cNvSpPr>
            <a:spLocks noGrp="1"/>
          </p:cNvSpPr>
          <p:nvPr>
            <p:ph/>
          </p:nvPr>
        </p:nvSpPr>
        <p:spPr>
          <a:xfrm>
            <a:off x="1097280" y="5733288"/>
            <a:ext cx="9966960" cy="347472"/>
          </a:xfrm>
        </p:spPr>
        <p:txBody>
          <a:bodyPr/>
          <a:lstStyle/>
          <a:p>
            <a:pPr algn="ctr" marL="0" marR="0">
              <a:lnSpc>
                <a:spcPct val="100000"/>
              </a:lnSpc>
              <a:spcBef>
                <a:spcPts val="0"/>
              </a:spcBef>
              <a:spcAft>
                <a:spcPts val="0"/>
              </a:spcAft>
              <a:buNone/>
            </a:pPr>
            <a:r>
              <a:rPr cap="none" sz="1400" i="0" b="1" u="none" strike="noStrike">
                <a:solidFill>
                  <a:srgbClr val="B2182B">
                    <a:alpha val="100000"/>
                  </a:srgbClr>
                </a:solidFill>
                <a:latin typeface="Arial"/>
                <a:cs typeface="Arial"/>
                <a:ea typeface="Arial"/>
                <a:sym typeface="Arial"/>
              </a:rPr>
              <a:t>Top signal: Chromosome 6 at 28,801,701 bp • P = 5.58 × 10⁻¹⁸</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Thousand-seed weight in LN2023</a:t>
            </a:r>
          </a:p>
        </p:txBody>
      </p:sp>
      <p:pic>
        <p:nvPicPr>
          <p:cNvPr id="3" name="" descr=""/>
          <p:cNvPicPr>
            <a:picLocks noGrp="1"/>
          </p:cNvPicPr>
          <p:nvPr>
            <p:ph/>
          </p:nvPr>
        </p:nvPicPr>
        <p:blipFill>
          <a:blip r:embed="rId3"/>
          <a:stretch>
            <a:fillRect/>
          </a:stretch>
        </p:blipFill>
        <p:spPr>
          <a:xfrm>
            <a:off x="411480" y="1188720"/>
            <a:ext cx="7315200" cy="4069080"/>
          </a:xfrm>
          <a:prstGeom prst="rect">
            <a:avLst/>
          </a:prstGeom>
        </p:spPr>
      </p:pic>
      <p:pic>
        <p:nvPicPr>
          <p:cNvPr id="4" name="" descr=""/>
          <p:cNvPicPr>
            <a:picLocks noGrp="1"/>
          </p:cNvPicPr>
          <p:nvPr>
            <p:ph/>
          </p:nvPr>
        </p:nvPicPr>
        <p:blipFill>
          <a:blip r:embed="rId4"/>
          <a:stretch>
            <a:fillRect/>
          </a:stretch>
        </p:blipFill>
        <p:spPr>
          <a:xfrm>
            <a:off x="7955280" y="1188720"/>
            <a:ext cx="3749040" cy="4069080"/>
          </a:xfrm>
          <a:prstGeom prst="rect">
            <a:avLst/>
          </a:prstGeom>
        </p:spPr>
      </p:pic>
      <p:sp>
        <p:nvSpPr>
          <p:cNvPr id="5" name=""/>
          <p:cNvSpPr>
            <a:spLocks noGrp="1"/>
          </p:cNvSpPr>
          <p:nvPr>
            <p:ph/>
          </p:nvPr>
        </p:nvSpPr>
        <p:spPr>
          <a:xfrm>
            <a:off x="502920" y="5330952"/>
            <a:ext cx="11155680" cy="365760"/>
          </a:xfrm>
        </p:spPr>
        <p:txBody>
          <a:bodyPr/>
          <a:lstStyle/>
          <a:p>
            <a:pPr algn="ctr" marL="0" marR="0">
              <a:lnSpc>
                <a:spcPct val="100000"/>
              </a:lnSpc>
              <a:spcBef>
                <a:spcPts val="0"/>
              </a:spcBef>
              <a:spcAft>
                <a:spcPts val="0"/>
              </a:spcAft>
              <a:buNone/>
            </a:pPr>
            <a:r>
              <a:rPr cap="none" sz="1400" i="0" b="1" u="none" strike="noStrike">
                <a:solidFill>
                  <a:srgbClr val="18354A">
                    <a:alpha val="100000"/>
                  </a:srgbClr>
                </a:solidFill>
                <a:latin typeface="Arial"/>
                <a:cs typeface="Arial"/>
                <a:ea typeface="Arial"/>
                <a:sym typeface="Arial"/>
              </a:rPr>
              <a:t>BLINK • n = 86 • 3 significant records • 3 unique SNPs • 2 MAF-supported unique SNPs</a:t>
            </a:r>
          </a:p>
        </p:txBody>
      </p:sp>
      <p:sp>
        <p:nvSpPr>
          <p:cNvPr id="6" name=""/>
          <p:cNvSpPr>
            <a:spLocks noGrp="1"/>
          </p:cNvSpPr>
          <p:nvPr>
            <p:ph/>
          </p:nvPr>
        </p:nvSpPr>
        <p:spPr>
          <a:xfrm>
            <a:off x="1097280" y="5733288"/>
            <a:ext cx="9966960" cy="347472"/>
          </a:xfrm>
        </p:spPr>
        <p:txBody>
          <a:bodyPr/>
          <a:lstStyle/>
          <a:p>
            <a:pPr algn="ctr" marL="0" marR="0">
              <a:lnSpc>
                <a:spcPct val="100000"/>
              </a:lnSpc>
              <a:spcBef>
                <a:spcPts val="0"/>
              </a:spcBef>
              <a:spcAft>
                <a:spcPts val="0"/>
              </a:spcAft>
              <a:buNone/>
            </a:pPr>
            <a:r>
              <a:rPr cap="none" sz="1400" i="0" b="1" u="none" strike="noStrike">
                <a:solidFill>
                  <a:srgbClr val="B2182B">
                    <a:alpha val="100000"/>
                  </a:srgbClr>
                </a:solidFill>
                <a:latin typeface="Arial"/>
                <a:cs typeface="Arial"/>
                <a:ea typeface="Arial"/>
                <a:sym typeface="Arial"/>
              </a:rPr>
              <a:t>Top signal: Chromosome 1 at 33,452,294 bp • P = 4.63 × 10⁻¹¹</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Recurrent MAF-supported loci</a:t>
            </a:r>
          </a:p>
        </p:txBody>
      </p:sp>
      <p:graphicFrame>
        <p:nvGraphicFramePr>
          <p:cNvPr id="3" name=""/>
          <p:cNvGraphicFramePr>
            <a:graphicFrameLocks noGrp="true"/>
          </p:cNvGraphicFramePr>
          <p:nvPr/>
        </p:nvGraphicFramePr>
        <p:xfrm rot="0">
          <a:off x="1005840" y="1417320"/>
          <a:ext cx="10149840" cy="3520440"/>
        </p:xfrm>
        <a:graphic>
          <a:graphicData uri="http://schemas.openxmlformats.org/drawingml/2006/table">
            <a:tbl>
              <a:tblPr/>
              <a:tblGrid>
                <a:gridCol w="1920240"/>
                <a:gridCol w="2194560"/>
                <a:gridCol w="5029200"/>
              </a:tblGrid>
              <a:tr h="228600">
                <a:tc>
                  <a:txBody>
                    <a:bodyPr/>
                    <a:lstStyle/>
                    <a:p>
                      <a:pPr algn="ctr" marL="38100" marR="38100">
                        <a:lnSpc>
                          <a:spcPct val="100000"/>
                        </a:lnSpc>
                        <a:spcBef>
                          <a:spcPts val="300"/>
                        </a:spcBef>
                        <a:spcAft>
                          <a:spcPts val="300"/>
                        </a:spcAft>
                        <a:buNone/>
                      </a:pPr>
                      <a:r>
                        <a:rPr cap="none" sz="1200" i="0" b="1" u="none" strike="noStrike">
                          <a:solidFill>
                            <a:srgbClr val="FFFFFF">
                              <a:alpha val="100000"/>
                            </a:srgbClr>
                          </a:solidFill>
                          <a:latin typeface="Arial"/>
                          <a:cs typeface="Arial"/>
                          <a:ea typeface="Arial"/>
                          <a:sym typeface="Arial"/>
                        </a:rPr>
                        <a:t>Locus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200" i="0" b="1" u="none" strike="noStrike">
                          <a:solidFill>
                            <a:srgbClr val="FFFFFF">
                              <a:alpha val="100000"/>
                            </a:srgbClr>
                          </a:solidFill>
                          <a:latin typeface="Arial"/>
                          <a:cs typeface="Arial"/>
                          <a:ea typeface="Arial"/>
                          <a:sym typeface="Arial"/>
                        </a:rPr>
                        <a:t>Trait</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200" i="0" b="1" u="none" strike="noStrike">
                          <a:solidFill>
                            <a:srgbClr val="FFFFFF">
                              <a:alpha val="100000"/>
                            </a:srgbClr>
                          </a:solidFill>
                          <a:latin typeface="Arial"/>
                          <a:cs typeface="Arial"/>
                          <a:ea typeface="Arial"/>
                          <a:sym typeface="Arial"/>
                        </a:rPr>
                        <a:t>Evidence</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r>
              <a:tr h="228600">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S8:3,818,991</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Flowering</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LN2024 + HN2024; BLINK/FarmCPU</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S2:30,514,256</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Flowering/harvest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LN2024; BLINK/FarmCPU</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S7:17,136,277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Flowering</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LN2023; BLINK/FarmCPU</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S9:9,021,917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Plant height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LN2024 + HN2024; FarmCPU</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S4:15,902,894</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Seed protein</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LN2024; BLINK/FarmCPU</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S8:7,342,725</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Flowering</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HN2024; BLINK/FarmCPU</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S8:33,914,787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Plant height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HN2024; BLINK/FarmCPU</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r>
            </a:tbl>
          </a:graphicData>
        </a:graphic>
      </p:graphicFrame>
      <p:sp>
        <p:nvSpPr>
          <p:cNvPr id="4" name=""/>
          <p:cNvSpPr>
            <a:spLocks noGrp="1"/>
          </p:cNvSpPr>
          <p:nvPr>
            <p:ph/>
          </p:nvPr>
        </p:nvSpPr>
        <p:spPr>
          <a:xfrm>
            <a:off x="731520" y="5257800"/>
            <a:ext cx="10698480" cy="411480"/>
          </a:xfrm>
        </p:spPr>
        <p:txBody>
          <a:bodyPr/>
          <a:lstStyle/>
          <a:p>
            <a:pPr algn="ctr" marL="0" marR="0">
              <a:lnSpc>
                <a:spcPct val="100000"/>
              </a:lnSpc>
              <a:spcBef>
                <a:spcPts val="0"/>
              </a:spcBef>
              <a:spcAft>
                <a:spcPts val="0"/>
              </a:spcAft>
              <a:buNone/>
            </a:pPr>
            <a:r>
              <a:rPr cap="none" sz="1500" i="0" b="1" u="none" strike="noStrike">
                <a:solidFill>
                  <a:srgbClr val="B2182B">
                    <a:alpha val="100000"/>
                  </a:srgbClr>
                </a:solidFill>
                <a:latin typeface="Arial"/>
                <a:cs typeface="Arial"/>
                <a:ea typeface="Arial"/>
                <a:sym typeface="Arial"/>
              </a:rPr>
              <a:t>Seven SNPs recurred; cross-environment and cross-model loci are priority validation targets.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Example recurrent locus: plant height</a:t>
            </a:r>
          </a:p>
        </p:txBody>
      </p:sp>
      <p:pic>
        <p:nvPicPr>
          <p:cNvPr id="3" name="" descr=""/>
          <p:cNvPicPr>
            <a:picLocks noGrp="1"/>
          </p:cNvPicPr>
          <p:nvPr>
            <p:ph/>
          </p:nvPr>
        </p:nvPicPr>
        <p:blipFill>
          <a:blip r:embed="rId3"/>
          <a:stretch>
            <a:fillRect/>
          </a:stretch>
        </p:blipFill>
        <p:spPr>
          <a:xfrm>
            <a:off x="914400" y="1234440"/>
            <a:ext cx="7498080" cy="5074920"/>
          </a:xfrm>
          <a:prstGeom prst="rect">
            <a:avLst/>
          </a:prstGeom>
        </p:spPr>
      </p:pic>
      <p:sp>
        <p:nvSpPr>
          <p:cNvPr id="4" name=""/>
          <p:cNvSpPr>
            <a:spLocks noGrp="1"/>
          </p:cNvSpPr>
          <p:nvPr>
            <p:ph/>
          </p:nvPr>
        </p:nvSpPr>
        <p:spPr>
          <a:xfrm>
            <a:off x="8641080" y="1600200"/>
            <a:ext cx="2926080" cy="731520"/>
          </a:xfrm>
        </p:spPr>
        <p:txBody>
          <a:bodyPr/>
          <a:lstStyle/>
          <a:p>
            <a:pPr algn="ctr" marL="0" marR="0">
              <a:lnSpc>
                <a:spcPct val="100000"/>
              </a:lnSpc>
              <a:spcBef>
                <a:spcPts val="0"/>
              </a:spcBef>
              <a:spcAft>
                <a:spcPts val="0"/>
              </a:spcAft>
              <a:buNone/>
            </a:pPr>
            <a:r>
              <a:rPr cap="none" sz="1800" i="0" b="1" u="none" strike="noStrike">
                <a:solidFill>
                  <a:srgbClr val="18354A">
                    <a:alpha val="100000"/>
                  </a:srgbClr>
                </a:solidFill>
                <a:latin typeface="Arial"/>
                <a:cs typeface="Arial"/>
                <a:ea typeface="Arial"/>
                <a:sym typeface="Arial"/>
              </a:rPr>
              <a:t>Chromosome 9
9,021,917 bp</a:t>
            </a:r>
          </a:p>
        </p:txBody>
      </p:sp>
      <p:sp>
        <p:nvSpPr>
          <p:cNvPr id="5" name=""/>
          <p:cNvSpPr>
            <a:spLocks noGrp="1"/>
          </p:cNvSpPr>
          <p:nvPr>
            <p:ph/>
          </p:nvPr>
        </p:nvSpPr>
        <p:spPr>
          <a:xfrm>
            <a:off x="8641080" y="2423160"/>
            <a:ext cx="2926080" cy="3108960"/>
          </a:xfrm>
        </p:spPr>
        <p:txBody>
          <a:bodyPr/>
          <a:lstStyle/>
          <a:p>
            <a:pPr algn="l" marL="0" marR="0">
              <a:lnSpc>
                <a:spcPct val="100000"/>
              </a:lnSpc>
              <a:spcBef>
                <a:spcPts val="0"/>
              </a:spcBef>
              <a:spcAft>
                <a:spcPts val="0"/>
              </a:spcAft>
              <a:buNone/>
            </a:pPr>
            <a:r>
              <a:rPr cap="none" sz="1600" i="0" b="0" u="none" strike="noStrike">
                <a:solidFill>
                  <a:srgbClr val="4D4D4D">
                    <a:alpha val="100000"/>
                  </a:srgbClr>
                </a:solidFill>
                <a:latin typeface="Arial"/>
                <a:cs typeface="Arial"/>
                <a:ea typeface="Arial"/>
                <a:sym typeface="Arial"/>
              </a:rPr>
              <a:t>• Detected under LN2024 and HN2024
• Strongest LN2024 height signal
• LD-coloured regional evidence
• Direct gene overlap; function uncertain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SNP distribution and genome-wide LD decay</a:t>
            </a:r>
          </a:p>
        </p:txBody>
      </p:sp>
      <p:pic>
        <p:nvPicPr>
          <p:cNvPr id="3" name="" descr=""/>
          <p:cNvPicPr>
            <a:picLocks noGrp="1"/>
          </p:cNvPicPr>
          <p:nvPr>
            <p:ph/>
          </p:nvPr>
        </p:nvPicPr>
        <p:blipFill>
          <a:blip r:embed="rId3"/>
          <a:stretch>
            <a:fillRect/>
          </a:stretch>
        </p:blipFill>
        <p:spPr>
          <a:xfrm>
            <a:off x="411480" y="1188720"/>
            <a:ext cx="11384280" cy="4553712"/>
          </a:xfrm>
          <a:prstGeom prst="rect">
            <a:avLst/>
          </a:prstGeom>
        </p:spPr>
      </p:pic>
      <p:sp>
        <p:nvSpPr>
          <p:cNvPr id="4" name=""/>
          <p:cNvSpPr>
            <a:spLocks noGrp="1"/>
          </p:cNvSpPr>
          <p:nvPr>
            <p:ph/>
          </p:nvPr>
        </p:nvSpPr>
        <p:spPr>
          <a:xfrm>
            <a:off x="685800" y="5742432"/>
            <a:ext cx="10835640" cy="384048"/>
          </a:xfrm>
        </p:spPr>
        <p:txBody>
          <a:bodyPr/>
          <a:lstStyle/>
          <a:p>
            <a:pPr algn="ctr" marL="0" marR="0">
              <a:lnSpc>
                <a:spcPct val="100000"/>
              </a:lnSpc>
              <a:spcBef>
                <a:spcPts val="0"/>
              </a:spcBef>
              <a:spcAft>
                <a:spcPts val="0"/>
              </a:spcAft>
              <a:buNone/>
            </a:pPr>
            <a:r>
              <a:rPr cap="none" sz="1400" i="0" b="1" u="none" strike="noStrike">
                <a:solidFill>
                  <a:srgbClr val="18354A">
                    <a:alpha val="100000"/>
                  </a:srgbClr>
                </a:solidFill>
                <a:latin typeface="Arial"/>
                <a:cs typeface="Arial"/>
                <a:ea typeface="Arial"/>
                <a:sym typeface="Arial"/>
              </a:rPr>
              <a:t>Green line: binned genome-wide mean r²; pale band: chromosome variation; black points: sampled SNP pairs.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How SNPs were selected for candidate-gene identification</a:t>
            </a:r>
          </a:p>
        </p:txBody>
      </p:sp>
      <p:sp>
        <p:nvSpPr>
          <p:cNvPr id="3" name=""/>
          <p:cNvSpPr>
            <a:spLocks noGrp="1"/>
          </p:cNvSpPr>
          <p:nvPr>
            <p:ph/>
          </p:nvPr>
        </p:nvSpPr>
        <p:spPr>
          <a:xfrm>
            <a:off x="502920" y="1325880"/>
            <a:ext cx="2331720" cy="658368"/>
          </a:xfrm>
        </p:spPr>
        <p:txBody>
          <a:bodyPr/>
          <a:lstStyle/>
          <a:p>
            <a:pPr algn="ctr" marL="0" marR="0">
              <a:lnSpc>
                <a:spcPct val="100000"/>
              </a:lnSpc>
              <a:spcBef>
                <a:spcPts val="0"/>
              </a:spcBef>
              <a:spcAft>
                <a:spcPts val="0"/>
              </a:spcAft>
              <a:buNone/>
            </a:pPr>
            <a:r>
              <a:rPr cap="none" sz="3000" i="0" b="1" u="none" strike="noStrike">
                <a:solidFill>
                  <a:srgbClr val="FFFFFF">
                    <a:alpha val="100000"/>
                  </a:srgbClr>
                </a:solidFill>
                <a:latin typeface="Arial"/>
                <a:cs typeface="Arial"/>
                <a:ea typeface="Arial"/>
                <a:sym typeface="Arial"/>
              </a:rPr>
              <a:t>181</a:t>
            </a:r>
          </a:p>
        </p:txBody>
      </p:sp>
      <p:sp>
        <p:nvSpPr>
          <p:cNvPr id="4" name=""/>
          <p:cNvSpPr>
            <a:spLocks noGrp="1"/>
          </p:cNvSpPr>
          <p:nvPr>
            <p:ph/>
          </p:nvPr>
        </p:nvSpPr>
        <p:spPr>
          <a:xfrm>
            <a:off x="502920" y="2039112"/>
            <a:ext cx="2331720" cy="594360"/>
          </a:xfrm>
        </p:spPr>
        <p:txBody>
          <a:bodyPr/>
          <a:lstStyle/>
          <a:p>
            <a:pPr algn="ctr" marL="0" marR="0">
              <a:lnSpc>
                <a:spcPct val="100000"/>
              </a:lnSpc>
              <a:spcBef>
                <a:spcPts val="0"/>
              </a:spcBef>
              <a:spcAft>
                <a:spcPts val="0"/>
              </a:spcAft>
              <a:buNone/>
            </a:pPr>
            <a:r>
              <a:rPr cap="none" sz="1300" i="0" b="1" u="none" strike="noStrike">
                <a:solidFill>
                  <a:srgbClr val="18354A">
                    <a:alpha val="100000"/>
                  </a:srgbClr>
                </a:solidFill>
                <a:latin typeface="Arial"/>
                <a:cs typeface="Arial"/>
                <a:ea typeface="Arial"/>
                <a:sym typeface="Arial"/>
              </a:rPr>
              <a:t>Bonferroni-significant records</a:t>
            </a:r>
          </a:p>
        </p:txBody>
      </p:sp>
      <p:sp>
        <p:nvSpPr>
          <p:cNvPr id="5" name=""/>
          <p:cNvSpPr>
            <a:spLocks noGrp="1"/>
          </p:cNvSpPr>
          <p:nvPr>
            <p:ph/>
          </p:nvPr>
        </p:nvSpPr>
        <p:spPr>
          <a:xfrm>
            <a:off x="2880360" y="1508760"/>
            <a:ext cx="411480" cy="502920"/>
          </a:xfrm>
        </p:spPr>
        <p:txBody>
          <a:bodyPr/>
          <a:lstStyle/>
          <a:p>
            <a:pPr algn="ctr" marL="0" marR="0">
              <a:lnSpc>
                <a:spcPct val="100000"/>
              </a:lnSpc>
              <a:spcBef>
                <a:spcPts val="0"/>
              </a:spcBef>
              <a:spcAft>
                <a:spcPts val="0"/>
              </a:spcAft>
              <a:buNone/>
            </a:pPr>
            <a:r>
              <a:rPr cap="none" sz="2800" i="0" b="1" u="none" strike="noStrike">
                <a:solidFill>
                  <a:srgbClr val="18354A">
                    <a:alpha val="100000"/>
                  </a:srgbClr>
                </a:solidFill>
                <a:latin typeface="Arial"/>
                <a:cs typeface="Arial"/>
                <a:ea typeface="Arial"/>
                <a:sym typeface="Arial"/>
              </a:rPr>
              <a:t>→</a:t>
            </a:r>
          </a:p>
        </p:txBody>
      </p:sp>
      <p:sp>
        <p:nvSpPr>
          <p:cNvPr id="6" name=""/>
          <p:cNvSpPr>
            <a:spLocks noGrp="1"/>
          </p:cNvSpPr>
          <p:nvPr>
            <p:ph/>
          </p:nvPr>
        </p:nvSpPr>
        <p:spPr>
          <a:xfrm>
            <a:off x="3337560" y="1325880"/>
            <a:ext cx="2331720" cy="658368"/>
          </a:xfrm>
        </p:spPr>
        <p:txBody>
          <a:bodyPr/>
          <a:lstStyle/>
          <a:p>
            <a:pPr algn="ctr" marL="0" marR="0">
              <a:lnSpc>
                <a:spcPct val="100000"/>
              </a:lnSpc>
              <a:spcBef>
                <a:spcPts val="0"/>
              </a:spcBef>
              <a:spcAft>
                <a:spcPts val="0"/>
              </a:spcAft>
              <a:buNone/>
            </a:pPr>
            <a:r>
              <a:rPr cap="none" sz="3000" i="0" b="1" u="none" strike="noStrike">
                <a:solidFill>
                  <a:srgbClr val="FFFFFF">
                    <a:alpha val="100000"/>
                  </a:srgbClr>
                </a:solidFill>
                <a:latin typeface="Arial"/>
                <a:cs typeface="Arial"/>
                <a:ea typeface="Arial"/>
                <a:sym typeface="Arial"/>
              </a:rPr>
              <a:t>160</a:t>
            </a:r>
          </a:p>
        </p:txBody>
      </p:sp>
      <p:sp>
        <p:nvSpPr>
          <p:cNvPr id="7" name=""/>
          <p:cNvSpPr>
            <a:spLocks noGrp="1"/>
          </p:cNvSpPr>
          <p:nvPr>
            <p:ph/>
          </p:nvPr>
        </p:nvSpPr>
        <p:spPr>
          <a:xfrm>
            <a:off x="3337560" y="2039112"/>
            <a:ext cx="2331720" cy="594360"/>
          </a:xfrm>
        </p:spPr>
        <p:txBody>
          <a:bodyPr/>
          <a:lstStyle/>
          <a:p>
            <a:pPr algn="ctr" marL="0" marR="0">
              <a:lnSpc>
                <a:spcPct val="100000"/>
              </a:lnSpc>
              <a:spcBef>
                <a:spcPts val="0"/>
              </a:spcBef>
              <a:spcAft>
                <a:spcPts val="0"/>
              </a:spcAft>
              <a:buNone/>
            </a:pPr>
            <a:r>
              <a:rPr cap="none" sz="1300" i="0" b="1" u="none" strike="noStrike">
                <a:solidFill>
                  <a:srgbClr val="18354A">
                    <a:alpha val="100000"/>
                  </a:srgbClr>
                </a:solidFill>
                <a:latin typeface="Arial"/>
                <a:cs typeface="Arial"/>
                <a:ea typeface="Arial"/>
                <a:sym typeface="Arial"/>
              </a:rPr>
              <a:t>unique significant SNPs</a:t>
            </a:r>
          </a:p>
        </p:txBody>
      </p:sp>
      <p:sp>
        <p:nvSpPr>
          <p:cNvPr id="8" name=""/>
          <p:cNvSpPr>
            <a:spLocks noGrp="1"/>
          </p:cNvSpPr>
          <p:nvPr>
            <p:ph/>
          </p:nvPr>
        </p:nvSpPr>
        <p:spPr>
          <a:xfrm>
            <a:off x="5715000" y="1508760"/>
            <a:ext cx="411480" cy="502920"/>
          </a:xfrm>
        </p:spPr>
        <p:txBody>
          <a:bodyPr/>
          <a:lstStyle/>
          <a:p>
            <a:pPr algn="ctr" marL="0" marR="0">
              <a:lnSpc>
                <a:spcPct val="100000"/>
              </a:lnSpc>
              <a:spcBef>
                <a:spcPts val="0"/>
              </a:spcBef>
              <a:spcAft>
                <a:spcPts val="0"/>
              </a:spcAft>
              <a:buNone/>
            </a:pPr>
            <a:r>
              <a:rPr cap="none" sz="2800" i="0" b="1" u="none" strike="noStrike">
                <a:solidFill>
                  <a:srgbClr val="18354A">
                    <a:alpha val="100000"/>
                  </a:srgbClr>
                </a:solidFill>
                <a:latin typeface="Arial"/>
                <a:cs typeface="Arial"/>
                <a:ea typeface="Arial"/>
                <a:sym typeface="Arial"/>
              </a:rPr>
              <a:t>→</a:t>
            </a:r>
          </a:p>
        </p:txBody>
      </p:sp>
      <p:sp>
        <p:nvSpPr>
          <p:cNvPr id="9" name=""/>
          <p:cNvSpPr>
            <a:spLocks noGrp="1"/>
          </p:cNvSpPr>
          <p:nvPr>
            <p:ph/>
          </p:nvPr>
        </p:nvSpPr>
        <p:spPr>
          <a:xfrm>
            <a:off x="6172200" y="1325880"/>
            <a:ext cx="2331720" cy="658368"/>
          </a:xfrm>
        </p:spPr>
        <p:txBody>
          <a:bodyPr/>
          <a:lstStyle/>
          <a:p>
            <a:pPr algn="ctr" marL="0" marR="0">
              <a:lnSpc>
                <a:spcPct val="100000"/>
              </a:lnSpc>
              <a:spcBef>
                <a:spcPts val="0"/>
              </a:spcBef>
              <a:spcAft>
                <a:spcPts val="0"/>
              </a:spcAft>
              <a:buNone/>
            </a:pPr>
            <a:r>
              <a:rPr cap="none" sz="3000" i="0" b="1" u="none" strike="noStrike">
                <a:solidFill>
                  <a:srgbClr val="FFFFFF">
                    <a:alpha val="100000"/>
                  </a:srgbClr>
                </a:solidFill>
                <a:latin typeface="Arial"/>
                <a:cs typeface="Arial"/>
                <a:ea typeface="Arial"/>
                <a:sym typeface="Arial"/>
              </a:rPr>
              <a:t>95</a:t>
            </a:r>
          </a:p>
        </p:txBody>
      </p:sp>
      <p:sp>
        <p:nvSpPr>
          <p:cNvPr id="10" name=""/>
          <p:cNvSpPr>
            <a:spLocks noGrp="1"/>
          </p:cNvSpPr>
          <p:nvPr>
            <p:ph/>
          </p:nvPr>
        </p:nvSpPr>
        <p:spPr>
          <a:xfrm>
            <a:off x="6172200" y="2039112"/>
            <a:ext cx="2331720" cy="594360"/>
          </a:xfrm>
        </p:spPr>
        <p:txBody>
          <a:bodyPr/>
          <a:lstStyle/>
          <a:p>
            <a:pPr algn="ctr" marL="0" marR="0">
              <a:lnSpc>
                <a:spcPct val="100000"/>
              </a:lnSpc>
              <a:spcBef>
                <a:spcPts val="0"/>
              </a:spcBef>
              <a:spcAft>
                <a:spcPts val="0"/>
              </a:spcAft>
              <a:buNone/>
            </a:pPr>
            <a:r>
              <a:rPr cap="none" sz="1300" i="0" b="1" u="none" strike="noStrike">
                <a:solidFill>
                  <a:srgbClr val="18354A">
                    <a:alpha val="100000"/>
                  </a:srgbClr>
                </a:solidFill>
                <a:latin typeface="Arial"/>
                <a:cs typeface="Arial"/>
                <a:ea typeface="Arial"/>
                <a:sym typeface="Arial"/>
              </a:rPr>
              <a:t>unique SNPs with trait MAF ≥ 0.05</a:t>
            </a:r>
          </a:p>
        </p:txBody>
      </p:sp>
      <p:sp>
        <p:nvSpPr>
          <p:cNvPr id="11" name=""/>
          <p:cNvSpPr>
            <a:spLocks noGrp="1"/>
          </p:cNvSpPr>
          <p:nvPr>
            <p:ph/>
          </p:nvPr>
        </p:nvSpPr>
        <p:spPr>
          <a:xfrm>
            <a:off x="8549640" y="1508760"/>
            <a:ext cx="411480" cy="502920"/>
          </a:xfrm>
        </p:spPr>
        <p:txBody>
          <a:bodyPr/>
          <a:lstStyle/>
          <a:p>
            <a:pPr algn="ctr" marL="0" marR="0">
              <a:lnSpc>
                <a:spcPct val="100000"/>
              </a:lnSpc>
              <a:spcBef>
                <a:spcPts val="0"/>
              </a:spcBef>
              <a:spcAft>
                <a:spcPts val="0"/>
              </a:spcAft>
              <a:buNone/>
            </a:pPr>
            <a:r>
              <a:rPr cap="none" sz="2800" i="0" b="1" u="none" strike="noStrike">
                <a:solidFill>
                  <a:srgbClr val="18354A">
                    <a:alpha val="100000"/>
                  </a:srgbClr>
                </a:solidFill>
                <a:latin typeface="Arial"/>
                <a:cs typeface="Arial"/>
                <a:ea typeface="Arial"/>
                <a:sym typeface="Arial"/>
              </a:rPr>
              <a:t>→</a:t>
            </a:r>
          </a:p>
        </p:txBody>
      </p:sp>
      <p:sp>
        <p:nvSpPr>
          <p:cNvPr id="12" name=""/>
          <p:cNvSpPr>
            <a:spLocks noGrp="1"/>
          </p:cNvSpPr>
          <p:nvPr>
            <p:ph/>
          </p:nvPr>
        </p:nvSpPr>
        <p:spPr>
          <a:xfrm>
            <a:off x="9006840" y="1325880"/>
            <a:ext cx="2331720" cy="658368"/>
          </a:xfrm>
        </p:spPr>
        <p:txBody>
          <a:bodyPr/>
          <a:lstStyle/>
          <a:p>
            <a:pPr algn="ctr" marL="0" marR="0">
              <a:lnSpc>
                <a:spcPct val="100000"/>
              </a:lnSpc>
              <a:spcBef>
                <a:spcPts val="0"/>
              </a:spcBef>
              <a:spcAft>
                <a:spcPts val="0"/>
              </a:spcAft>
              <a:buNone/>
            </a:pPr>
            <a:r>
              <a:rPr cap="none" sz="3000" i="0" b="1" u="none" strike="noStrike">
                <a:solidFill>
                  <a:srgbClr val="FFFFFF">
                    <a:alpha val="100000"/>
                  </a:srgbClr>
                </a:solidFill>
                <a:latin typeface="Arial"/>
                <a:cs typeface="Arial"/>
                <a:ea typeface="Arial"/>
                <a:sym typeface="Arial"/>
              </a:rPr>
              <a:t>7</a:t>
            </a:r>
          </a:p>
        </p:txBody>
      </p:sp>
      <p:sp>
        <p:nvSpPr>
          <p:cNvPr id="13" name=""/>
          <p:cNvSpPr>
            <a:spLocks noGrp="1"/>
          </p:cNvSpPr>
          <p:nvPr>
            <p:ph/>
          </p:nvPr>
        </p:nvSpPr>
        <p:spPr>
          <a:xfrm>
            <a:off x="9006840" y="2039112"/>
            <a:ext cx="2331720" cy="594360"/>
          </a:xfrm>
        </p:spPr>
        <p:txBody>
          <a:bodyPr/>
          <a:lstStyle/>
          <a:p>
            <a:pPr algn="ctr" marL="0" marR="0">
              <a:lnSpc>
                <a:spcPct val="100000"/>
              </a:lnSpc>
              <a:spcBef>
                <a:spcPts val="0"/>
              </a:spcBef>
              <a:spcAft>
                <a:spcPts val="0"/>
              </a:spcAft>
              <a:buNone/>
            </a:pPr>
            <a:r>
              <a:rPr cap="none" sz="1300" i="0" b="1" u="none" strike="noStrike">
                <a:solidFill>
                  <a:srgbClr val="18354A">
                    <a:alpha val="100000"/>
                  </a:srgbClr>
                </a:solidFill>
                <a:latin typeface="Arial"/>
                <a:cs typeface="Arial"/>
                <a:ea typeface="Arial"/>
                <a:sym typeface="Arial"/>
              </a:rPr>
              <a:t>recurrent priority loci</a:t>
            </a:r>
          </a:p>
        </p:txBody>
      </p:sp>
      <p:graphicFrame>
        <p:nvGraphicFramePr>
          <p:cNvPr id="14" name=""/>
          <p:cNvGraphicFramePr>
            <a:graphicFrameLocks noGrp="true"/>
          </p:cNvGraphicFramePr>
          <p:nvPr/>
        </p:nvGraphicFramePr>
        <p:xfrm rot="0">
          <a:off x="685800" y="3154680"/>
          <a:ext cx="10835640" cy="2331720"/>
        </p:xfrm>
        <a:graphic>
          <a:graphicData uri="http://schemas.openxmlformats.org/drawingml/2006/table">
            <a:tbl>
              <a:tblPr/>
              <a:tblGrid>
                <a:gridCol w="2057400"/>
                <a:gridCol w="8138160"/>
              </a:tblGrid>
              <a:tr h="228600">
                <a:tc>
                  <a:txBody>
                    <a:bodyPr/>
                    <a:lstStyle/>
                    <a:p>
                      <a:pPr algn="ctr" marL="38100" marR="38100">
                        <a:lnSpc>
                          <a:spcPct val="100000"/>
                        </a:lnSpc>
                        <a:spcBef>
                          <a:spcPts val="300"/>
                        </a:spcBef>
                        <a:spcAft>
                          <a:spcPts val="300"/>
                        </a:spcAft>
                        <a:buNone/>
                      </a:pPr>
                      <a:r>
                        <a:rPr cap="none" sz="1100" i="0" b="1" u="none" strike="noStrike">
                          <a:solidFill>
                            <a:srgbClr val="FFFFFF">
                              <a:alpha val="100000"/>
                            </a:srgbClr>
                          </a:solidFill>
                          <a:latin typeface="Arial"/>
                          <a:cs typeface="Arial"/>
                          <a:ea typeface="Arial"/>
                          <a:sym typeface="Arial"/>
                        </a:rPr>
                        <a:t>Step</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100" i="0" b="1" u="none" strike="noStrike">
                          <a:solidFill>
                            <a:srgbClr val="FFFFFF">
                              <a:alpha val="100000"/>
                            </a:srgbClr>
                          </a:solidFill>
                          <a:latin typeface="Arial"/>
                          <a:cs typeface="Arial"/>
                          <a:ea typeface="Arial"/>
                          <a:sym typeface="Arial"/>
                        </a:rPr>
                        <a:t>Criterion</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Statistical evidence</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P ≤ 5.891 × 10⁻⁸; trait-specific MAF ≥ 0.05</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LD-based interval</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Lead-connected markers: ±1 Mb, r² ≥ 0.20; interval capped at ±250 kb</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Reference annotation</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Genes overlapping intervals in Yugu1 v2; coordinates independently lifted to T2T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Final prioritization</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Recurrent across models/environments, direct gene overlap, reference agreement and plausible function</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r>
            </a:tbl>
          </a:graphicData>
        </a:graphic>
      </p:graphicFrame>
      <p:sp>
        <p:nvSpPr>
          <p:cNvPr id="15" name=""/>
          <p:cNvSpPr>
            <a:spLocks noGrp="1"/>
          </p:cNvSpPr>
          <p:nvPr>
            <p:ph/>
          </p:nvPr>
        </p:nvSpPr>
        <p:spPr>
          <a:xfrm>
            <a:off x="777240" y="5650992"/>
            <a:ext cx="10652760" cy="384048"/>
          </a:xfrm>
        </p:spPr>
        <p:txBody>
          <a:bodyPr/>
          <a:lstStyle/>
          <a:p>
            <a:pPr algn="ctr" marL="0" marR="0">
              <a:lnSpc>
                <a:spcPct val="100000"/>
              </a:lnSpc>
              <a:spcBef>
                <a:spcPts val="0"/>
              </a:spcBef>
              <a:spcAft>
                <a:spcPts val="0"/>
              </a:spcAft>
              <a:buNone/>
            </a:pPr>
            <a:r>
              <a:rPr cap="none" sz="1400" i="0" b="1" u="none" strike="noStrike">
                <a:solidFill>
                  <a:srgbClr val="B2182B">
                    <a:alpha val="100000"/>
                  </a:srgbClr>
                </a:solidFill>
                <a:latin typeface="Arial"/>
                <a:cs typeface="Arial"/>
                <a:ea typeface="Arial"/>
                <a:sym typeface="Arial"/>
              </a:rPr>
              <a:t>All significant associations were documented; the 95 MAF-supported unique SNPs formed the preferred biological follow-up set.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Candidate genes: two-reference evidence</a:t>
            </a:r>
          </a:p>
        </p:txBody>
      </p:sp>
      <p:graphicFrame>
        <p:nvGraphicFramePr>
          <p:cNvPr id="3" name=""/>
          <p:cNvGraphicFramePr>
            <a:graphicFrameLocks noGrp="true"/>
          </p:cNvGraphicFramePr>
          <p:nvPr/>
        </p:nvGraphicFramePr>
        <p:xfrm rot="0">
          <a:off x="731520" y="1234440"/>
          <a:ext cx="4800600" cy="2743200"/>
        </p:xfrm>
        <a:graphic>
          <a:graphicData uri="http://schemas.openxmlformats.org/drawingml/2006/table">
            <a:tbl>
              <a:tblPr/>
              <a:tblGrid>
                <a:gridCol w="2834640"/>
                <a:gridCol w="1828800"/>
              </a:tblGrid>
              <a:tr h="228600">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Analysis step</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Result</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Yugu1 v2 candidate search</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735 unique genes</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T2T candidate search</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1,047 unique genes</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Unique coordinate lift to T2T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180 of 181 associations</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Unmapped to T2T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 of 181 associations</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r>
            </a:tbl>
          </a:graphicData>
        </a:graphic>
      </p:graphicFrame>
      <p:graphicFrame>
        <p:nvGraphicFramePr>
          <p:cNvPr id="4" name=""/>
          <p:cNvGraphicFramePr>
            <a:graphicFrameLocks noGrp="true"/>
          </p:cNvGraphicFramePr>
          <p:nvPr/>
        </p:nvGraphicFramePr>
        <p:xfrm rot="0">
          <a:off x="5806440" y="1234440"/>
          <a:ext cx="5623560" cy="3520440"/>
        </p:xfrm>
        <a:graphic>
          <a:graphicData uri="http://schemas.openxmlformats.org/drawingml/2006/table">
            <a:tbl>
              <a:tblPr/>
              <a:tblGrid>
                <a:gridCol w="1417320"/>
                <a:gridCol w="1417320"/>
                <a:gridCol w="2560320"/>
              </a:tblGrid>
              <a:tr h="228600">
                <a:tc>
                  <a:txBody>
                    <a:bodyPr/>
                    <a:lstStyle/>
                    <a:p>
                      <a:pPr algn="ctr" marL="38100" marR="38100">
                        <a:lnSpc>
                          <a:spcPct val="100000"/>
                        </a:lnSpc>
                        <a:spcBef>
                          <a:spcPts val="300"/>
                        </a:spcBef>
                        <a:spcAft>
                          <a:spcPts val="300"/>
                        </a:spcAft>
                        <a:buNone/>
                      </a:pPr>
                      <a:r>
                        <a:rPr cap="none" sz="1100" i="0" b="1" u="none" strike="noStrike">
                          <a:solidFill>
                            <a:srgbClr val="FFFFFF">
                              <a:alpha val="100000"/>
                            </a:srgbClr>
                          </a:solidFill>
                          <a:latin typeface="Arial"/>
                          <a:cs typeface="Arial"/>
                          <a:ea typeface="Arial"/>
                          <a:sym typeface="Arial"/>
                        </a:rPr>
                        <a:t>Candidate</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100" i="0" b="1" u="none" strike="noStrike">
                          <a:solidFill>
                            <a:srgbClr val="FFFFFF">
                              <a:alpha val="100000"/>
                            </a:srgbClr>
                          </a:solidFill>
                          <a:latin typeface="Arial"/>
                          <a:cs typeface="Arial"/>
                          <a:ea typeface="Arial"/>
                          <a:sym typeface="Arial"/>
                        </a:rPr>
                        <a:t>Trait</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100" i="0" b="1" u="none" strike="noStrike">
                          <a:solidFill>
                            <a:srgbClr val="FFFFFF">
                              <a:alpha val="100000"/>
                            </a:srgbClr>
                          </a:solidFill>
                          <a:latin typeface="Arial"/>
                          <a:cs typeface="Arial"/>
                          <a:ea typeface="Arial"/>
                          <a:sym typeface="Arial"/>
                        </a:rPr>
                        <a:t>Rationale</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SULTR3;4</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LN2024 tillers</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Sulfate transporter</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PLP3</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LN2024 tillers</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Patatin-like protein</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APT1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LN2023 panicle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Purine salvage enzyme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RSL2/bHLH139-like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LN2023 panicle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Transcription factor</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THYN1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LN2024/HN2024 height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Direct overlap; function unclear</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r>
            </a:tbl>
          </a:graphicData>
        </a:graphic>
      </p:graphicFrame>
      <p:sp>
        <p:nvSpPr>
          <p:cNvPr id="5" name=""/>
          <p:cNvSpPr>
            <a:spLocks noGrp="1"/>
          </p:cNvSpPr>
          <p:nvPr>
            <p:ph/>
          </p:nvPr>
        </p:nvSpPr>
        <p:spPr>
          <a:xfrm>
            <a:off x="914400" y="4983480"/>
            <a:ext cx="10332720" cy="438912"/>
          </a:xfrm>
        </p:spPr>
        <p:txBody>
          <a:bodyPr/>
          <a:lstStyle/>
          <a:p>
            <a:pPr algn="ctr" marL="0" marR="0">
              <a:lnSpc>
                <a:spcPct val="100000"/>
              </a:lnSpc>
              <a:spcBef>
                <a:spcPts val="0"/>
              </a:spcBef>
              <a:spcAft>
                <a:spcPts val="0"/>
              </a:spcAft>
              <a:buNone/>
            </a:pPr>
            <a:r>
              <a:rPr cap="none" sz="1500" i="0" b="1" u="none" strike="noStrike">
                <a:solidFill>
                  <a:srgbClr val="B2182B">
                    <a:alpha val="100000"/>
                  </a:srgbClr>
                </a:solidFill>
                <a:latin typeface="Arial"/>
                <a:cs typeface="Arial"/>
                <a:ea typeface="Arial"/>
                <a:sym typeface="Arial"/>
              </a:rPr>
              <a:t>The 1,047 T2T genes are alternative annotations of the same GWAS evidence—not additional discoveries.</a:t>
            </a:r>
          </a:p>
        </p:txBody>
      </p:sp>
      <p:sp>
        <p:nvSpPr>
          <p:cNvPr id="6" name=""/>
          <p:cNvSpPr>
            <a:spLocks noGrp="1"/>
          </p:cNvSpPr>
          <p:nvPr>
            <p:ph/>
          </p:nvPr>
        </p:nvSpPr>
        <p:spPr>
          <a:xfrm>
            <a:off x="914400" y="5504688"/>
            <a:ext cx="10332720" cy="384048"/>
          </a:xfrm>
        </p:spPr>
        <p:txBody>
          <a:bodyPr/>
          <a:lstStyle/>
          <a:p>
            <a:pPr algn="ctr" marL="0" marR="0">
              <a:lnSpc>
                <a:spcPct val="100000"/>
              </a:lnSpc>
              <a:spcBef>
                <a:spcPts val="0"/>
              </a:spcBef>
              <a:spcAft>
                <a:spcPts val="0"/>
              </a:spcAft>
              <a:buNone/>
            </a:pPr>
            <a:r>
              <a:rPr cap="none" sz="1400" i="0" b="1" u="none" strike="noStrike">
                <a:solidFill>
                  <a:srgbClr val="4D4D4D">
                    <a:alpha val="100000"/>
                  </a:srgbClr>
                </a:solidFill>
                <a:latin typeface="Arial"/>
                <a:cs typeface="Arial"/>
                <a:ea typeface="Arial"/>
                <a:sym typeface="Arial"/>
              </a:rPr>
              <a:t>All candidate genes are positional hypotheses requiring functional and independent validation.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Conclusions and next steps</a:t>
            </a:r>
          </a:p>
        </p:txBody>
      </p:sp>
      <p:sp>
        <p:nvSpPr>
          <p:cNvPr id="3" name=""/>
          <p:cNvSpPr>
            <a:spLocks noGrp="1"/>
          </p:cNvSpPr>
          <p:nvPr>
            <p:ph/>
          </p:nvPr>
        </p:nvSpPr>
        <p:spPr>
          <a:xfrm>
            <a:off x="685800" y="1371600"/>
            <a:ext cx="10789920" cy="4389120"/>
          </a:xfrm>
        </p:spPr>
        <p:txBody>
          <a:bodyPr/>
          <a:lstStyle/>
          <a:p>
            <a:pPr algn="l" marL="0" marR="0">
              <a:lnSpc>
                <a:spcPct val="100000"/>
              </a:lnSpc>
              <a:spcBef>
                <a:spcPts val="0"/>
              </a:spcBef>
              <a:spcAft>
                <a:spcPts val="800"/>
              </a:spcAft>
              <a:buNone/>
            </a:pPr>
            <a:r>
              <a:rPr cap="none" sz="1800" i="0" b="0" u="none" strike="noStrike">
                <a:solidFill>
                  <a:srgbClr val="4D4D4D">
                    <a:alpha val="100000"/>
                  </a:srgbClr>
                </a:solidFill>
                <a:latin typeface="Arial"/>
                <a:cs typeface="Arial"/>
                <a:ea typeface="Arial"/>
                <a:sym typeface="Arial"/>
              </a:rPr>
              <a:t>•  95 unique Bonferroni-significant SNPs passed trait-specific MAF ≥ 0.05</a:t>
            </a:r>
          </a:p>
          <a:p>
            <a:pPr algn="l" marL="0" marR="0">
              <a:lnSpc>
                <a:spcPct val="100000"/>
              </a:lnSpc>
              <a:spcBef>
                <a:spcPts val="0"/>
              </a:spcBef>
              <a:spcAft>
                <a:spcPts val="800"/>
              </a:spcAft>
              <a:buNone/>
            </a:pPr>
            <a:r>
              <a:rPr cap="none" sz="1800" i="0" b="0" u="none" strike="noStrike">
                <a:solidFill>
                  <a:srgbClr val="4D4D4D">
                    <a:alpha val="100000"/>
                  </a:srgbClr>
                </a:solidFill>
                <a:latin typeface="Arial"/>
                <a:cs typeface="Arial"/>
                <a:ea typeface="Arial"/>
                <a:sym typeface="Arial"/>
              </a:rPr>
              <a:t>•  Flowering, height, harvest, tillers, panicle/pedicel length and protein produced signals</a:t>
            </a:r>
          </a:p>
          <a:p>
            <a:pPr algn="l" marL="0" marR="0">
              <a:lnSpc>
                <a:spcPct val="100000"/>
              </a:lnSpc>
              <a:spcBef>
                <a:spcPts val="0"/>
              </a:spcBef>
              <a:spcAft>
                <a:spcPts val="800"/>
              </a:spcAft>
              <a:buNone/>
            </a:pPr>
            <a:r>
              <a:rPr cap="none" sz="1800" i="0" b="0" u="none" strike="noStrike">
                <a:solidFill>
                  <a:srgbClr val="4D4D4D">
                    <a:alpha val="100000"/>
                  </a:srgbClr>
                </a:solidFill>
                <a:latin typeface="Arial"/>
                <a:cs typeface="Arial"/>
                <a:ea typeface="Arial"/>
                <a:sym typeface="Arial"/>
              </a:rPr>
              <a:t>•  Seven recurrent SNPs provide the strongest follow-up targets</a:t>
            </a:r>
          </a:p>
          <a:p>
            <a:pPr algn="l" marL="0" marR="0">
              <a:lnSpc>
                <a:spcPct val="100000"/>
              </a:lnSpc>
              <a:spcBef>
                <a:spcPts val="0"/>
              </a:spcBef>
              <a:spcAft>
                <a:spcPts val="800"/>
              </a:spcAft>
              <a:buNone/>
            </a:pPr>
            <a:r>
              <a:rPr cap="none" sz="1800" i="0" b="0" u="none" strike="noStrike">
                <a:solidFill>
                  <a:srgbClr val="4D4D4D">
                    <a:alpha val="100000"/>
                  </a:srgbClr>
                </a:solidFill>
                <a:latin typeface="Arial"/>
                <a:cs typeface="Arial"/>
                <a:ea typeface="Arial"/>
                <a:sym typeface="Arial"/>
              </a:rPr>
              <a:t>•  S8:3,818,991 (flowering) and S9:9,021,917 (height) were shared across LN2024/HN2024</a:t>
            </a:r>
          </a:p>
          <a:p>
            <a:pPr algn="l" marL="0" marR="0">
              <a:lnSpc>
                <a:spcPct val="100000"/>
              </a:lnSpc>
              <a:spcBef>
                <a:spcPts val="0"/>
              </a:spcBef>
              <a:spcAft>
                <a:spcPts val="800"/>
              </a:spcAft>
              <a:buNone/>
            </a:pPr>
            <a:r>
              <a:rPr cap="none" sz="1800" i="0" b="0" u="none" strike="noStrike">
                <a:solidFill>
                  <a:srgbClr val="4D4D4D">
                    <a:alpha val="100000"/>
                  </a:srgbClr>
                </a:solidFill>
                <a:latin typeface="Arial"/>
                <a:cs typeface="Arial"/>
                <a:ea typeface="Arial"/>
                <a:sym typeface="Arial"/>
              </a:rPr>
              <a:t>•  Candidate genes are positional hypotheses, not causal assignments</a:t>
            </a:r>
          </a:p>
          <a:p>
            <a:pPr algn="l" marL="0" marR="0">
              <a:lnSpc>
                <a:spcPct val="100000"/>
              </a:lnSpc>
              <a:spcBef>
                <a:spcPts val="0"/>
              </a:spcBef>
              <a:spcAft>
                <a:spcPts val="800"/>
              </a:spcAft>
              <a:buNone/>
            </a:pPr>
            <a:r>
              <a:rPr cap="none" sz="1800" i="0" b="0" u="none" strike="noStrike">
                <a:solidFill>
                  <a:srgbClr val="4D4D4D">
                    <a:alpha val="100000"/>
                  </a:srgbClr>
                </a:solidFill>
                <a:latin typeface="Arial"/>
                <a:cs typeface="Arial"/>
                <a:ea typeface="Arial"/>
                <a:sym typeface="Arial"/>
              </a:rPr>
              <a:t>•  Next: sensitivity GWAS, independent validation, haplotypes and expression</a:t>
            </a:r>
          </a:p>
        </p:txBody>
      </p:sp>
      <p:sp>
        <p:nvSpPr>
          <p:cNvPr id="4" name=""/>
          <p:cNvSpPr>
            <a:spLocks noGrp="1"/>
          </p:cNvSpPr>
          <p:nvPr>
            <p:ph/>
          </p:nvPr>
        </p:nvSpPr>
        <p:spPr>
          <a:xfrm>
            <a:off x="777240" y="5623560"/>
            <a:ext cx="10652760" cy="502920"/>
          </a:xfrm>
        </p:spPr>
        <p:txBody>
          <a:bodyPr/>
          <a:lstStyle/>
          <a:p>
            <a:pPr algn="ctr" marL="0" marR="0">
              <a:lnSpc>
                <a:spcPct val="100000"/>
              </a:lnSpc>
              <a:spcBef>
                <a:spcPts val="0"/>
              </a:spcBef>
              <a:spcAft>
                <a:spcPts val="0"/>
              </a:spcAft>
              <a:buNone/>
            </a:pPr>
            <a:r>
              <a:rPr cap="none" sz="1600" i="0" b="1" u="none" strike="noStrike">
                <a:solidFill>
                  <a:srgbClr val="B2182B">
                    <a:alpha val="100000"/>
                  </a:srgbClr>
                </a:solidFill>
                <a:latin typeface="Arial"/>
                <a:cs typeface="Arial"/>
                <a:ea typeface="Arial"/>
                <a:sym typeface="Arial"/>
              </a:rPr>
              <a:t>Take-home: recurrent loci plus direct, reference-supported gene overlap provide a focused route from discovery to validation.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GAAFS-Roslin Teaching Template 2026 v1">
  <a:themeElements>
    <a:clrScheme name="Accessible Colours WCAG-AA">
      <a:dk1>
        <a:srgbClr val="515151"/>
      </a:dk1>
      <a:lt1>
        <a:srgbClr val="FFF7E5"/>
      </a:lt1>
      <a:dk2>
        <a:srgbClr val="6C6C6C"/>
      </a:dk2>
      <a:lt2>
        <a:srgbClr val="FFFFFF"/>
      </a:lt2>
      <a:accent1>
        <a:srgbClr val="002060"/>
      </a:accent1>
      <a:accent2>
        <a:srgbClr val="9932CC"/>
      </a:accent2>
      <a:accent3>
        <a:srgbClr val="20603C"/>
      </a:accent3>
      <a:accent4>
        <a:srgbClr val="0000B5"/>
      </a:accent4>
      <a:accent5>
        <a:srgbClr val="DC143C"/>
      </a:accent5>
      <a:accent6>
        <a:srgbClr val="66380F"/>
      </a:accent6>
      <a:hlink>
        <a:srgbClr val="CD5A13"/>
      </a:hlink>
      <a:folHlink>
        <a:srgbClr val="CD5A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AFS-Roslin Teaching Template 2026 v1.potx" id="{E8BC51C7-5CDF-464B-9AE5-9A91DABB693B}" vid="{B353F0B8-385E-4FCA-8F9E-E5DD39716FC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cd1e201-5229-413e-bb16-379b2dffad63" xsi:nil="true"/>
    <lcf76f155ced4ddcb4097134ff3c332f xmlns="86724248-c367-4d9f-9835-44c8a5f6919c">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332822659F3ED43BBD1FCFBB1920337" ma:contentTypeVersion="17" ma:contentTypeDescription="Create a new document." ma:contentTypeScope="" ma:versionID="b814994164499e93f600e4f08334b468">
  <xsd:schema xmlns:xsd="http://www.w3.org/2001/XMLSchema" xmlns:xs="http://www.w3.org/2001/XMLSchema" xmlns:p="http://schemas.microsoft.com/office/2006/metadata/properties" xmlns:ns2="86724248-c367-4d9f-9835-44c8a5f6919c" xmlns:ns3="2cd1e201-5229-413e-bb16-379b2dffad63" targetNamespace="http://schemas.microsoft.com/office/2006/metadata/properties" ma:root="true" ma:fieldsID="e20af4f0e90c1d47291f7b67ff2c2d2c" ns2:_="" ns3:_="">
    <xsd:import namespace="86724248-c367-4d9f-9835-44c8a5f6919c"/>
    <xsd:import namespace="2cd1e201-5229-413e-bb16-379b2dffad6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ServiceObjectDetectorVersions" minOccurs="0"/>
                <xsd:element ref="ns2:MediaServiceSearchPropertie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724248-c367-4d9f-9835-44c8a5f691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d54eff52-6b6d-4e5f-a3b0-187f185b1db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cd1e201-5229-413e-bb16-379b2dffad63"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86e5040d-3788-467a-8afc-718b4ba3f10b}" ma:internalName="TaxCatchAll" ma:showField="CatchAllData" ma:web="2cd1e201-5229-413e-bb16-379b2dffad6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B1319DE-CFB5-421D-9EC8-E8895474E035}">
  <ds:schemaRefs>
    <ds:schemaRef ds:uri="http://schemas.microsoft.com/office/infopath/2007/PartnerControls"/>
    <ds:schemaRef ds:uri="http://schemas.microsoft.com/office/2006/metadata/properties"/>
    <ds:schemaRef ds:uri="http://purl.org/dc/terms/"/>
    <ds:schemaRef ds:uri="http://schemas.microsoft.com/office/2006/documentManagement/types"/>
    <ds:schemaRef ds:uri="8fb7119e-831b-4203-9e69-6525ea818a0e"/>
    <ds:schemaRef ds:uri="http://schemas.openxmlformats.org/package/2006/metadata/core-properties"/>
    <ds:schemaRef ds:uri="http://purl.org/dc/elements/1.1/"/>
    <ds:schemaRef ds:uri="http://www.w3.org/XML/1998/namespace"/>
    <ds:schemaRef ds:uri="http://purl.org/dc/dcmitype/"/>
    <ds:schemaRef ds:uri="2cd1e201-5229-413e-bb16-379b2dffad63"/>
    <ds:schemaRef ds:uri="86724248-c367-4d9f-9835-44c8a5f6919c"/>
  </ds:schemaRefs>
</ds:datastoreItem>
</file>

<file path=customXml/itemProps2.xml><?xml version="1.0" encoding="utf-8"?>
<ds:datastoreItem xmlns:ds="http://schemas.openxmlformats.org/officeDocument/2006/customXml" ds:itemID="{DDBE35C2-AC21-4499-9EDC-0C0ACDA2B7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724248-c367-4d9f-9835-44c8a5f6919c"/>
    <ds:schemaRef ds:uri="2cd1e201-5229-413e-bb16-379b2dffad6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428D97-FAEE-42F0-ABE4-C167A14C718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14624</TotalTime>
  <Words>1673</Words>
  <Application>Microsoft Macintosh PowerPoint</Application>
  <PresentationFormat>Widescreen</PresentationFormat>
  <Paragraphs>426</Paragraphs>
  <Slides>29</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Wingdings</vt:lpstr>
      <vt:lpstr>GAAFS-Roslin Teaching Template 2026 v1</vt:lpstr>
      <vt:lpstr>Applied Genomic selection</vt:lpstr>
      <vt:lpstr>Overview </vt:lpstr>
      <vt:lpstr>Learning objectives </vt:lpstr>
      <vt:lpstr>Tea</vt:lpstr>
      <vt:lpstr>Tea breeding goals</vt:lpstr>
      <vt:lpstr>The Bottleneck – “Phenotypic Lag”</vt:lpstr>
      <vt:lpstr>Introduction to Genomic Selection (GS)</vt:lpstr>
      <vt:lpstr>Tea quality</vt:lpstr>
      <vt:lpstr>Can we predict tea quality?</vt:lpstr>
      <vt:lpstr>Heritability estimates</vt:lpstr>
      <vt:lpstr>Predictive ability</vt:lpstr>
      <vt:lpstr>From feasibility to breeding program design</vt:lpstr>
      <vt:lpstr>Simulation Scenarios</vt:lpstr>
      <vt:lpstr>PowerPoint Presentation</vt:lpstr>
      <vt:lpstr>PowerPoint Presentation</vt:lpstr>
      <vt:lpstr>PowerPoint Presentation</vt:lpstr>
      <vt:lpstr>Overview of breeding programs</vt:lpstr>
      <vt:lpstr>Cost of the programs</vt:lpstr>
      <vt:lpstr>Simulation parameters</vt:lpstr>
      <vt:lpstr>Results: Genetic gain </vt:lpstr>
      <vt:lpstr>Results: Genetic variance </vt:lpstr>
      <vt:lpstr>Multi-Environment Genomic Prediction </vt:lpstr>
      <vt:lpstr>PowerPoint Presentation</vt:lpstr>
      <vt:lpstr>PowerPoint Presentation</vt:lpstr>
      <vt:lpstr>Sparse testing in plant breeding programmes </vt:lpstr>
      <vt:lpstr>Sparse testing in cassava and groundnuts</vt:lpstr>
      <vt:lpstr>Practical Strategy of implementing sparse testing</vt:lpstr>
      <vt:lpstr>Summary &amp; Take-home Messages</vt:lpstr>
      <vt:lpstr>Resources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PowerPoint Presentation</dc:title>
  <dc:creator>Pau Navarro</dc:creator>
  <cp:lastModifiedBy>nel6</cp:lastModifiedBy>
  <cp:revision>66</cp:revision>
  <dcterms:created xsi:type="dcterms:W3CDTF">2026-03-03T10:40:17Z</dcterms:created>
  <dcterms:modified xsi:type="dcterms:W3CDTF">2026-09-10T18:02:59Z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0x0101004332822659F3ED43BBD1FCFBB1920337</vt:lpwstr>
  </property>
  <property fmtid="{D5CDD505-2E9C-101B-9397-08002B2CF9AE}" pid="3" name="MSIP_Label_f2dfecbd-fc97-4e8a-a9cd-19ed496c406e_Enabled">
    <vt:lpwstr>true</vt:lpwstr>
  </property>
  <property fmtid="{D5CDD505-2E9C-101B-9397-08002B2CF9AE}" pid="4" name="MSIP_Label_f2dfecbd-fc97-4e8a-a9cd-19ed496c406e_SetDate">
    <vt:lpwstr>2026-04-22T22:15:01Z</vt:lpwstr>
  </property>
  <property fmtid="{D5CDD505-2E9C-101B-9397-08002B2CF9AE}" pid="5" name="MSIP_Label_f2dfecbd-fc97-4e8a-a9cd-19ed496c406e_Method">
    <vt:lpwstr>Standard</vt:lpwstr>
  </property>
  <property fmtid="{D5CDD505-2E9C-101B-9397-08002B2CF9AE}" pid="6" name="MSIP_Label_f2dfecbd-fc97-4e8a-a9cd-19ed496c406e_Name">
    <vt:lpwstr>defa4170-0d19-0005-0004-bc88714345d2</vt:lpwstr>
  </property>
  <property fmtid="{D5CDD505-2E9C-101B-9397-08002B2CF9AE}" pid="7" name="MSIP_Label_f2dfecbd-fc97-4e8a-a9cd-19ed496c406e_SiteId">
    <vt:lpwstr>d47b090e-3f5a-4ca0-84d0-9f89d269f175</vt:lpwstr>
  </property>
  <property fmtid="{D5CDD505-2E9C-101B-9397-08002B2CF9AE}" pid="8" name="MSIP_Label_f2dfecbd-fc97-4e8a-a9cd-19ed496c406e_ActionId">
    <vt:lpwstr>e0348bfe-9b86-45db-b398-f0cb409a3445</vt:lpwstr>
  </property>
  <property fmtid="{D5CDD505-2E9C-101B-9397-08002B2CF9AE}" pid="9" name="MSIP_Label_f2dfecbd-fc97-4e8a-a9cd-19ed496c406e_ContentBits">
    <vt:lpwstr>0</vt:lpwstr>
  </property>
  <property fmtid="{D5CDD505-2E9C-101B-9397-08002B2CF9AE}" pid="10" name="MSIP_Label_f2dfecbd-fc97-4e8a-a9cd-19ed496c406e_Tag">
    <vt:lpwstr>50, 3, 0, 1</vt:lpwstr>
  </property>
</Properties>
</file>